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Fast Engine Startup</a:t>
            </a:r>
          </a:p>
          <a:p>
            <a:r>
              <a:t>Zhenbang Liu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01</a:t>
            </a:r>
          </a:p>
          <a:p>
            <a:r>
              <a:t>Requirements</a:t>
            </a:r>
          </a:p>
          <a:p>
            <a:r>
              <a:t>Fast Engine Startup</a:t>
            </a:r>
          </a:p>
          <a:p>
            <a:r>
              <a:t>02 / 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REQUIREMENTS</a:t>
            </a:r>
          </a:p>
          <a:p>
            <a:r>
              <a:t>Requirements</a:t>
            </a:r>
          </a:p>
          <a:p>
            <a:r>
              <a:t>Fast Engine Startup</a:t>
            </a:r>
          </a:p>
          <a:p>
            <a:r>
              <a:t>03 / 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02</a:t>
            </a:r>
          </a:p>
          <a:p>
            <a:r>
              <a:t>Metrics</a:t>
            </a:r>
          </a:p>
          <a:p>
            <a:r>
              <a:t>Fast Engine Startup</a:t>
            </a:r>
          </a:p>
          <a:p>
            <a:r>
              <a:t>04 / 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METRICS</a:t>
            </a:r>
          </a:p>
          <a:p>
            <a:r>
              <a:t>Metrics</a:t>
            </a:r>
          </a:p>
          <a:p>
            <a:r>
              <a:t>Time from request to first reply, and the GPU‑seconds billed before it.</a:t>
            </a:r>
          </a:p>
          <a:p>
            <a:r>
              <a:t>Fast Engine Startup</a:t>
            </a:r>
          </a:p>
          <a:p>
            <a:r>
              <a:t>05 / 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METRICS</a:t>
            </a:r>
          </a:p>
          <a:p>
            <a:r>
              <a:t>Baseline</a:t>
            </a:r>
          </a:p>
          <a:p>
            <a:r>
              <a:t>Cold start: a fresh sandbox per trial, stock SGLang v0.5.20, no caches. Weights pre-downloaded to a Modal volume.</a:t>
            </a:r>
          </a:p>
          <a:p>
            <a:r>
              <a:t>Fast Engine Startup</a:t>
            </a:r>
          </a:p>
          <a:p>
            <a:r>
              <a:t>06 / 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03</a:t>
            </a:r>
          </a:p>
          <a:p>
            <a:r>
              <a:t>Find the critical path</a:t>
            </a:r>
          </a:p>
          <a:p>
            <a:r>
              <a:t>Fast Engine Startup</a:t>
            </a:r>
          </a:p>
          <a:p>
            <a:r>
              <a:t>07 / 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FIND THE CRITICAL PATH</a:t>
            </a:r>
          </a:p>
          <a:p>
            <a:r>
              <a:t>Where the time goes</a:t>
            </a:r>
          </a:p>
          <a:p>
            <a:r>
              <a:t>Fast Engine Startup</a:t>
            </a:r>
          </a:p>
          <a:p>
            <a:r>
              <a:t>08 / 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FIND THE CRITICAL PATH</a:t>
            </a:r>
          </a:p>
          <a:p>
            <a:r>
              <a:t>Phases and fixes</a:t>
            </a:r>
          </a:p>
          <a:p>
            <a:r>
              <a:t>For 235B, weight load alone is 564 of 951 s.</a:t>
            </a:r>
          </a:p>
          <a:p>
            <a:r>
              <a:t>Fast Engine Startup</a:t>
            </a:r>
          </a:p>
          <a:p>
            <a:r>
              <a:t>09 / 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04</a:t>
            </a:r>
          </a:p>
          <a:p>
            <a:r>
              <a:t>A solution for each component</a:t>
            </a:r>
          </a:p>
          <a:p>
            <a:r>
              <a:t>Fast Engine Startup</a:t>
            </a:r>
          </a:p>
          <a:p>
            <a:r>
              <a:t>10 / 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WEIGHTS</a:t>
            </a:r>
          </a:p>
          <a:p>
            <a:r>
              <a:t>Weights: cold start</a:t>
            </a:r>
          </a:p>
          <a:p>
            <a:r>
              <a:t>A model's first start downloads its weights, on a CPU sandbox, before any GPU is claimed.</a:t>
            </a:r>
          </a:p>
          <a:p>
            <a:r>
              <a:t>PROS</a:t>
            </a:r>
          </a:p>
          <a:p>
            <a:r>
              <a:t>No GPU billed during the download</a:t>
            </a:r>
          </a:p>
          <a:p>
            <a:r>
              <a:t>Saved to the model's own volume: later starts skip the download</a:t>
            </a:r>
          </a:p>
          <a:p>
            <a:r>
              <a:t>CONS</a:t>
            </a:r>
          </a:p>
          <a:p>
            <a:r>
              <a:t>Storage cost: every model's weights stay on a volume (235B: 470 GB)</a:t>
            </a:r>
          </a:p>
          <a:p>
            <a:r>
              <a:t>Volumes must be managed: remove unused models, keep the catalog in sync</a:t>
            </a:r>
          </a:p>
          <a:p>
            <a:r>
              <a:t>Now: $0 on GPUs. The cost is the download time × the GPU price.</a:t>
            </a:r>
          </a:p>
          <a:p>
            <a:r>
              <a:t>Fast Engine Startup</a:t>
            </a:r>
          </a:p>
          <a:p>
            <a:r>
              <a:t>11 / 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WEIGHTS</a:t>
            </a:r>
          </a:p>
          <a:p>
            <a:r>
              <a:t>Weights: prefetch into RAM</a:t>
            </a:r>
          </a:p>
          <a:p>
            <a:r>
              <a:t>16 threads read all shards into RAM while SGLang is still importing.</a:t>
            </a:r>
          </a:p>
          <a:p>
            <a:r>
              <a:t>PROS</a:t>
            </a:r>
          </a:p>
          <a:p>
            <a:r>
              <a:t>Faster SGLang init: weight load 62 → 13 s (30B), 564 → 75 s (235B)</a:t>
            </a:r>
          </a:p>
          <a:p>
            <a:r>
              <a:t>CONS</a:t>
            </a:r>
          </a:p>
          <a:p>
            <a:r>
              <a:t>Needs a larger-memory host: about 2× the weights (235B: 940 GiB)</a:t>
            </a:r>
          </a:p>
          <a:p>
            <a:r>
              <a:t>The drop combines faster parallel reads and overlap with imports. The 13 s left is the RAM → GPU copy.</a:t>
            </a:r>
          </a:p>
          <a:p>
            <a:r>
              <a:t>Fast Engine Startup</a:t>
            </a:r>
          </a:p>
          <a:p>
            <a:r>
              <a:t>12 / 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WEIGHTS</a:t>
            </a:r>
          </a:p>
          <a:p>
            <a:r>
              <a:t>Why prefetch helps</a:t>
            </a:r>
          </a:p>
          <a:p>
            <a:r>
              <a:t>Qwen3-30B, 2×H100: baseline vs the current engine (median). "Now" also includes the other startup fixes.</a:t>
            </a:r>
          </a:p>
          <a:p>
            <a:r>
              <a:t>Fast Engine Startup</a:t>
            </a:r>
          </a:p>
          <a:p>
            <a:r>
              <a:t>13 / 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BACKGROUND</a:t>
            </a:r>
          </a:p>
          <a:p>
            <a:r>
              <a:t>Memory layout: user space and kernel space</a:t>
            </a:r>
          </a:p>
          <a:p>
            <a:r>
              <a:t>Virtual address space of one process (Linux, x86-64)</a:t>
            </a:r>
          </a:p>
          <a:p>
            <a:r>
              <a:t>0xffff_8000_0000_0000</a:t>
            </a:r>
          </a:p>
          <a:p>
            <a:r>
              <a:t>0x0000_7fff_ffff_ffff</a:t>
            </a:r>
          </a:p>
          <a:p>
            <a:r>
              <a:t>0x0000_0000_0040_0000</a:t>
            </a:r>
          </a:p>
          <a:p>
            <a:r>
              <a:t>User space: the program's own memory; it can't touch the kernel's</a:t>
            </a:r>
          </a:p>
          <a:p>
            <a:r>
              <a:t>Kernel space: entered through system calls and page faults</a:t>
            </a:r>
          </a:p>
          <a:p>
            <a:r>
              <a:t>mmap of a file: the user-space range points straight at page-cache frames, with no copy</a:t>
            </a:r>
          </a:p>
          <a:p>
            <a:r>
              <a:t>Fast Engine Startup</a:t>
            </a:r>
          </a:p>
          <a:p>
            <a:r>
              <a:t>14 / 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BACKGROUND</a:t>
            </a:r>
          </a:p>
          <a:p>
            <a:r>
              <a:t>mmap read, page not cached: major fault</a:t>
            </a:r>
          </a:p>
          <a:p>
            <a:r>
              <a:t>Major fault: every miss blocks SGLang for a network read; the 30B weights take 62 s this way.</a:t>
            </a:r>
          </a:p>
          <a:p>
            <a:r>
              <a:t>Fast Engine Startup</a:t>
            </a:r>
          </a:p>
          <a:p>
            <a:r>
              <a:t>15 / 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BACKGROUND</a:t>
            </a:r>
          </a:p>
          <a:p>
            <a:r>
              <a:t>mmap read, page cached: minor fault</a:t>
            </a:r>
          </a:p>
          <a:p>
            <a:r>
              <a:t>Minor fault: no I/O and the volume is never touched. The 30B weights load in 13 s, mostly the copy to the GPU. With prefetch, every fault is a minor one.</a:t>
            </a:r>
          </a:p>
          <a:p>
            <a:r>
              <a:t>Fast Engine Startup</a:t>
            </a:r>
          </a:p>
          <a:p>
            <a:r>
              <a:t>16 / 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WEIGHTS</a:t>
            </a:r>
          </a:p>
          <a:p>
            <a:r>
              <a:t>ModelExpress GPU-to-GPU transfer REJECTED</a:t>
            </a:r>
          </a:p>
          <a:p>
            <a:r>
              <a:t>+</a:t>
            </a:r>
          </a:p>
          <a:p>
            <a:r>
              <a:t>−</a:t>
            </a:r>
          </a:p>
          <a:p>
            <a:r>
              <a:t>−</a:t>
            </a:r>
          </a:p>
          <a:p>
            <a:r>
              <a:t>Fast Engine Startup</a:t>
            </a:r>
          </a:p>
          <a:p>
            <a:r>
              <a:t>17 / 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CUDA GRAPHS</a:t>
            </a:r>
          </a:p>
          <a:p>
            <a:r>
              <a:t>CUDA graphs: power-of-two sizes</a:t>
            </a:r>
          </a:p>
          <a:p>
            <a:r>
              <a:t>Capture only power-of-two batch sizes. Other batches pad up to the next size.</a:t>
            </a:r>
          </a:p>
          <a:p>
            <a:r>
              <a:t>PROS</a:t>
            </a:r>
          </a:p>
          <a:p>
            <a:r>
              <a:t>Faster SGLang init: graph capture 27 → 9.6 s</a:t>
            </a:r>
          </a:p>
          <a:p>
            <a:r>
              <a:t>Less graph memory: 1.69 → 1.18 GB</a:t>
            </a:r>
          </a:p>
          <a:p>
            <a:r>
              <a:t>CONS</a:t>
            </a:r>
          </a:p>
          <a:p>
            <a:r>
              <a:t>Lower throughput: ~2%</a:t>
            </a:r>
          </a:p>
          <a:p>
            <a:r>
              <a:t>Higher latency: +0.05 ms per token</a:t>
            </a:r>
          </a:p>
          <a:p>
            <a:r>
              <a:t>Wastes GPU resources on padding: up to 2× (129 requests run as 256)</a:t>
            </a:r>
          </a:p>
          <a:p>
            <a:r>
              <a:t>Fast Engine Startup</a:t>
            </a:r>
          </a:p>
          <a:p>
            <a:r>
              <a:t>18 / 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CUDA GRAPHS</a:t>
            </a:r>
          </a:p>
          <a:p>
            <a:r>
              <a:t>Why power-of-two graphs work here</a:t>
            </a:r>
          </a:p>
          <a:p>
            <a:r>
              <a:t>PADDING IS CHEAP HERE: HOW WE MEASURED</a:t>
            </a:r>
          </a:p>
          <a:p>
            <a:r>
              <a:t>800-word prompt, 256 output tokens. Latency = time between output tokens (median). Mean of 2 cold-start trials each.</a:t>
            </a:r>
          </a:p>
          <a:p>
            <a:r>
              <a:t>Fast Engine Startup</a:t>
            </a:r>
          </a:p>
          <a:p>
            <a:r>
              <a:t>19 / 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CUDA GRAPHS</a:t>
            </a:r>
          </a:p>
          <a:p>
            <a:r>
              <a:t>Disable CUDA graphs REJECTED</a:t>
            </a:r>
          </a:p>
          <a:p>
            <a:r>
              <a:t>+</a:t>
            </a:r>
          </a:p>
          <a:p>
            <a:r>
              <a:t>−</a:t>
            </a:r>
          </a:p>
          <a:p>
            <a:r>
              <a:t>−</a:t>
            </a:r>
          </a:p>
          <a:p>
            <a:r>
              <a:t>DECISIONServing cost is far higher than the startup gain.</a:t>
            </a:r>
          </a:p>
          <a:p>
            <a:r>
              <a:t>Fast Engine Startup</a:t>
            </a:r>
          </a:p>
          <a:p>
            <a:r>
              <a:t>20 / 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 IMPORTS</a:t>
            </a:r>
          </a:p>
          <a:p>
            <a:r>
              <a:t>Python imports</a:t>
            </a:r>
          </a:p>
          <a:p>
            <a:r>
              <a:t>Imports are single-threaded and repeated by every worker process.</a:t>
            </a:r>
          </a:p>
          <a:p>
            <a:r>
              <a:t>PROS</a:t>
            </a:r>
          </a:p>
          <a:p>
            <a:r>
              <a:t>Precompiled bytecode: ~7 s</a:t>
            </a:r>
          </a:p>
          <a:p>
            <a:r>
              <a:t>Import file prefetch</a:t>
            </a:r>
          </a:p>
          <a:p>
            <a:r>
              <a:t>CONS</a:t>
            </a:r>
          </a:p>
          <a:p>
            <a:r>
              <a:t>Still ~48 s: the largest remaining phase</a:t>
            </a:r>
          </a:p>
          <a:p>
            <a:r>
              <a:t>Fast Engine Startup</a:t>
            </a:r>
          </a:p>
          <a:p>
            <a:r>
              <a:t>21 / 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 IMPORTS</a:t>
            </a:r>
          </a:p>
          <a:p>
            <a:r>
              <a:t>How precompiled bytecode shortens init</a:t>
            </a:r>
          </a:p>
          <a:p>
            <a:r>
              <a:t>BEFORE</a:t>
            </a:r>
          </a:p>
          <a:p>
            <a:r>
              <a:t>→</a:t>
            </a:r>
          </a:p>
          <a:p>
            <a:r>
              <a:t>→</a:t>
            </a:r>
          </a:p>
          <a:p>
            <a:r>
              <a:t>NOW</a:t>
            </a:r>
          </a:p>
          <a:p>
            <a:r>
              <a:t>→</a:t>
            </a:r>
          </a:p>
          <a:p>
            <a:r>
              <a:t>→</a:t>
            </a:r>
          </a:p>
          <a:p>
            <a:r>
              <a:t>SGLang imports ~3,900 modules. A fresh container has no .pyc files, so every cold start compiled all of them.</a:t>
            </a:r>
          </a:p>
          <a:p>
            <a:r>
              <a:t>ENGINE IMAGE LAYERS</a:t>
            </a:r>
          </a:p>
          <a:p>
            <a:r>
              <a:t>Fast Engine Startup</a:t>
            </a:r>
          </a:p>
          <a:p>
            <a:r>
              <a:t>22 / 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 IMPORTS</a:t>
            </a:r>
          </a:p>
          <a:p>
            <a:r>
              <a:t>How import-file prefetch shortens init</a:t>
            </a:r>
          </a:p>
          <a:p>
            <a:r>
              <a:t>Modal fetches image files on first read; SGLang's imports read ~14k of them one by one.</a:t>
            </a:r>
          </a:p>
          <a:p>
            <a:r>
              <a:t>Fast Engine Startup</a:t>
            </a:r>
          </a:p>
          <a:p>
            <a:r>
              <a:t>23 / 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 IMPORTS</a:t>
            </a:r>
          </a:p>
          <a:p>
            <a:r>
              <a:t>Why spawn is slower than fork</a:t>
            </a:r>
          </a:p>
          <a:p>
            <a:r>
              <a:t>One TP worker. ~15 s is the measured warm import per process; the CUDA block is only illustrative.</a:t>
            </a:r>
          </a:p>
          <a:p>
            <a:r>
              <a:t>Fast Engine Startup</a:t>
            </a:r>
          </a:p>
          <a:p>
            <a:r>
              <a:t>24 / 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 IMPORTS</a:t>
            </a:r>
          </a:p>
          <a:p>
            <a:r>
              <a:t>Fork instead of spawn REJECTED</a:t>
            </a:r>
          </a:p>
          <a:p>
            <a:r>
              <a:t>+</a:t>
            </a:r>
          </a:p>
          <a:p>
            <a:r>
              <a:t>−</a:t>
            </a:r>
          </a:p>
          <a:p>
            <a:r>
              <a:t>DECISIONA forkserver started before CUDA is future work.</a:t>
            </a:r>
          </a:p>
          <a:p>
            <a:r>
              <a:t>Fast Engine Startup</a:t>
            </a:r>
          </a:p>
          <a:p>
            <a:r>
              <a:t>25 / 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COMPILED KERNELS</a:t>
            </a:r>
          </a:p>
          <a:p>
            <a:r>
              <a:t>Compiled kernels: compile cache</a:t>
            </a:r>
          </a:p>
          <a:p>
            <a:r>
              <a:t>Save compiled kernels after the first start. Restore them on later starts.</a:t>
            </a:r>
          </a:p>
          <a:p>
            <a:r>
              <a:t>PROS</a:t>
            </a:r>
          </a:p>
          <a:p>
            <a:r>
              <a:t>~60 s saved on 30B</a:t>
            </a:r>
          </a:p>
          <a:p>
            <a:r>
              <a:t>Shared across starts with the same SGLang, GPU, TP and model</a:t>
            </a:r>
          </a:p>
          <a:p>
            <a:r>
              <a:t>CONS</a:t>
            </a:r>
          </a:p>
          <a:p>
            <a:r>
              <a:t>First start of a new configuration still compiles</a:t>
            </a:r>
          </a:p>
          <a:p>
            <a:r>
              <a:t>A dedicated volume per model (fes-artifacts-&lt;model&gt;) to store and manage</a:t>
            </a:r>
          </a:p>
          <a:p>
            <a:r>
              <a:t>Fast Engine Startup</a:t>
            </a:r>
          </a:p>
          <a:p>
            <a:r>
              <a:t>26 / 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COMPILED KERNELS</a:t>
            </a:r>
          </a:p>
          <a:p>
            <a:r>
              <a:t>How the compile cache helps</a:t>
            </a:r>
          </a:p>
          <a:p>
            <a:r>
              <a:t>Qwen3-30B, full CUDA graphs. Also saves ~9 s of warmup. Reused by any start with the same SGLang version, GPU, TP and model config.</a:t>
            </a:r>
          </a:p>
          <a:p>
            <a:r>
              <a:t>Fast Engine Startup</a:t>
            </a:r>
          </a:p>
          <a:p>
            <a:r>
              <a:t>27 / 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05</a:t>
            </a:r>
          </a:p>
          <a:p>
            <a:r>
              <a:t>Make it work, then make it reliable</a:t>
            </a:r>
          </a:p>
          <a:p>
            <a:r>
              <a:t>Fast Engine Startup</a:t>
            </a:r>
          </a:p>
          <a:p>
            <a:r>
              <a:t>28 / 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</a:t>
            </a:r>
          </a:p>
          <a:p>
            <a:r>
              <a:t>Architecture</a:t>
            </a:r>
          </a:p>
          <a:p>
            <a:r>
              <a:t>LOCAL CONTROL PLANE</a:t>
            </a:r>
          </a:p>
          <a:p>
            <a:r>
              <a:t>→</a:t>
            </a:r>
          </a:p>
          <a:p>
            <a:r>
              <a:t>→</a:t>
            </a:r>
          </a:p>
          <a:p>
            <a:r>
              <a:t>→</a:t>
            </a:r>
          </a:p>
          <a:p>
            <a:r>
              <a:t>⇄</a:t>
            </a:r>
          </a:p>
          <a:p>
            <a:r>
              <a:t>↓ starts sandboxes</a:t>
            </a:r>
          </a:p>
          <a:p>
            <a:r>
              <a:t>MODAL</a:t>
            </a:r>
          </a:p>
          <a:p>
            <a:r>
              <a:t>←</a:t>
            </a:r>
          </a:p>
          <a:p>
            <a:r>
              <a:t>mount</a:t>
            </a:r>
          </a:p>
          <a:p>
            <a:r>
              <a:t>←</a:t>
            </a:r>
          </a:p>
          <a:p>
            <a:r>
              <a:t>Fast Engine Startup</a:t>
            </a:r>
          </a:p>
          <a:p>
            <a:r>
              <a:t>29 / 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</a:t>
            </a:r>
          </a:p>
          <a:p>
            <a:r>
              <a:t>API + job queue</a:t>
            </a:r>
          </a:p>
          <a:p>
            <a:r>
              <a:t>The front door. It writes jobs; it never runs them.</a:t>
            </a:r>
          </a:p>
          <a:p>
            <a:r>
              <a:t>HOW IT WORKS</a:t>
            </a:r>
          </a:p>
          <a:p>
            <a:r>
              <a:t>Flask app: Engines, Jobs, Playground, Catalog, Compare pages + JSON API</a:t>
            </a:r>
          </a:p>
          <a:p>
            <a:r>
              <a:t>POST /api/jobs inserts a row with status queued</a:t>
            </a:r>
          </a:p>
          <a:p>
            <a:r>
              <a:t>Progress streams to the page from the job's event log (SSE)</a:t>
            </a:r>
          </a:p>
          <a:p>
            <a:r>
              <a:t>Cancel sets a flag the worker checks every second</a:t>
            </a:r>
          </a:p>
          <a:p>
            <a:r>
              <a:t>Restarting the API never interrupts a running job</a:t>
            </a:r>
          </a:p>
          <a:p>
            <a:r>
              <a:t>Fast Engine Startup</a:t>
            </a:r>
          </a:p>
          <a:p>
            <a:r>
              <a:t>30 / 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RESULTS</a:t>
            </a:r>
          </a:p>
          <a:p>
            <a:r>
              <a:t>Results: Qwen3-30B · 2×H100</a:t>
            </a:r>
          </a:p>
          <a:p>
            <a:r>
              <a:t>GPU cost per start $0.50 → $0.18. Medians: baseline n=3, now n=12.</a:t>
            </a:r>
          </a:p>
          <a:p>
            <a:r>
              <a:t>Fast Engine Startup</a:t>
            </a:r>
          </a:p>
          <a:p>
            <a:r>
              <a:t>31 / 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RESULTS</a:t>
            </a:r>
          </a:p>
          <a:p>
            <a:r>
              <a:t>Results: Qwen3-235B · 8×B200</a:t>
            </a:r>
          </a:p>
          <a:p>
            <a:r>
              <a:t>GPU cost per start $13.22 → $3.03. n=1 on each side.</a:t>
            </a:r>
          </a:p>
          <a:p>
            <a:r>
              <a:t>Fast Engine Startup</a:t>
            </a:r>
          </a:p>
          <a:p>
            <a:r>
              <a:t>32 / 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RESULTS</a:t>
            </a:r>
          </a:p>
          <a:p>
            <a:r>
              <a:t>Results: Qwen3-30B · 2 engines on 4×H100</a:t>
            </a:r>
          </a:p>
          <a:p>
            <a:r>
              <a:t>GPU cost per start $0.98 → $0.53. Baseline n=1, now n=2. Startup also includes ~35 s outside the phases: waiting for the second engine.</a:t>
            </a:r>
          </a:p>
          <a:p>
            <a:r>
              <a:t>Fast Engine Startup</a:t>
            </a:r>
          </a:p>
          <a:p>
            <a:r>
              <a:t>33 / 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OUTLOOK</a:t>
            </a:r>
          </a:p>
          <a:p>
            <a:r>
              <a:t>Future Work</a:t>
            </a:r>
          </a:p>
          <a:p>
            <a:r>
              <a:t>Fast Engine Startup</a:t>
            </a:r>
          </a:p>
          <a:p>
            <a:r>
              <a:t>34 / 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57963"/>
            <a:ext cx="10728960" cy="819269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6140">
                <a:solidFill>
                  <a:srgbClr val="FFFFFF"/>
                </a:solidFill>
                <a:latin typeface="Inter"/>
              </a:rPr>
              <a:t>Fast Engine Startup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50243"/>
            <a:ext cx="10728960" cy="396001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2150">
                <a:solidFill>
                  <a:srgbClr val="CBD5E1"/>
                </a:solidFill>
                <a:latin typeface="Inter"/>
              </a:rPr>
              <a:t>Zhenbang Liu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934057"/>
            <a:ext cx="10728960" cy="310991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1689">
                <a:solidFill>
                  <a:srgbClr val="60A5FA"/>
                </a:solidFill>
                <a:latin typeface="Inter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373755"/>
            <a:ext cx="10728960" cy="696396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5220">
                <a:solidFill>
                  <a:srgbClr val="FFFFFF"/>
                </a:solidFill>
                <a:latin typeface="Inter"/>
              </a:rPr>
              <a:t>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51996"/>
            <a:ext cx="1235035" cy="186570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010">
                <a:solidFill>
                  <a:srgbClr val="475569"/>
                </a:solidFill>
                <a:latin typeface="Inter"/>
              </a:rPr>
              <a:t>Fast Engine Startup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23758" y="6451996"/>
            <a:ext cx="436721" cy="186570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010">
                <a:solidFill>
                  <a:srgbClr val="475569"/>
                </a:solidFill>
                <a:latin typeface="Inter"/>
              </a:rPr>
              <a:t>02 / 34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33888"/>
            <a:ext cx="10728960" cy="203715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1110">
                <a:solidFill>
                  <a:srgbClr val="2563EB"/>
                </a:solidFill>
                <a:latin typeface="Inter"/>
              </a:rPr>
              <a:t>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35831"/>
            <a:ext cx="10728960" cy="448627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3070">
                <a:solidFill>
                  <a:srgbClr val="0F172A"/>
                </a:solidFill>
                <a:latin typeface="Inter"/>
              </a:rPr>
              <a:t>Requirements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6521"/>
            <a:ext cx="5247441" cy="1108471"/>
          </a:xfrm>
          <a:prstGeom prst="roundRect">
            <a:avLst>
              <a:gd name="adj" fmla="val 824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5564" bIns="175564" lIns="214579" rIns="214579"/>
          <a:lstStyle/>
          <a:p>
            <a:pPr algn="ctr"/>
            <a:r>
              <a:rPr b="1" sz="1200">
                <a:solidFill>
                  <a:srgbClr val="2563EB"/>
                </a:solidFill>
                <a:latin typeface="Inter"/>
              </a:rPr>
              <a:t>REQUIREMENT 1</a:t>
            </a:r>
          </a:p>
          <a:p>
            <a:pPr algn="ctr"/>
            <a:r>
              <a:rPr b="1" sz="2070">
                <a:solidFill>
                  <a:srgbClr val="0F172A"/>
                </a:solidFill>
                <a:latin typeface="Inter"/>
              </a:rPr>
              <a:t>Preserve GPU capacity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96521"/>
            <a:ext cx="30480" cy="1108471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3038" y="1696521"/>
            <a:ext cx="5247441" cy="1108471"/>
          </a:xfrm>
          <a:prstGeom prst="roundRect">
            <a:avLst>
              <a:gd name="adj" fmla="val 824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5564" bIns="175564" lIns="214579" rIns="214579"/>
          <a:lstStyle/>
          <a:p>
            <a:pPr algn="ctr"/>
            <a:r>
              <a:rPr b="1" sz="1200">
                <a:solidFill>
                  <a:srgbClr val="059669"/>
                </a:solidFill>
                <a:latin typeface="Inter"/>
              </a:rPr>
              <a:t>REQUIREMENT 2</a:t>
            </a:r>
          </a:p>
          <a:p>
            <a:pPr algn="ctr"/>
            <a:r>
              <a:rPr b="1" sz="2070">
                <a:solidFill>
                  <a:srgbClr val="0F172A"/>
                </a:solidFill>
                <a:latin typeface="Inter"/>
              </a:rPr>
              <a:t>Faster new-engine startup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3038" y="1696521"/>
            <a:ext cx="30480" cy="1108471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3000017"/>
            <a:ext cx="10728960" cy="969406"/>
          </a:xfrm>
          <a:prstGeom prst="roundRect">
            <a:avLst>
              <a:gd name="adj" fmla="val 943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5564" bIns="175564" lIns="214579" rIns="214579"/>
          <a:lstStyle/>
          <a:p>
            <a:pPr algn="ctr"/>
            <a:r>
              <a:rPr b="1" sz="1200">
                <a:solidFill>
                  <a:srgbClr val="DC2626"/>
                </a:solidFill>
                <a:latin typeface="Inter"/>
              </a:rPr>
              <a:t>CONSTRAINTS</a:t>
            </a:r>
          </a:p>
          <a:p>
            <a:pPr algn="ctr"/>
            <a:r>
              <a:rPr b="0" sz="1540">
                <a:solidFill>
                  <a:srgbClr val="334155"/>
                </a:solidFill>
                <a:latin typeface="Inter"/>
              </a:rPr>
              <a:t>No loss in throughput or latency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000017"/>
            <a:ext cx="30480" cy="96940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51996"/>
            <a:ext cx="1235035" cy="186570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010">
                <a:solidFill>
                  <a:srgbClr val="94A3B8"/>
                </a:solidFill>
                <a:latin typeface="Inter"/>
              </a:rPr>
              <a:t>Fast Engine Startup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23758" y="6451996"/>
            <a:ext cx="436721" cy="186570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010">
                <a:solidFill>
                  <a:srgbClr val="94A3B8"/>
                </a:solidFill>
                <a:latin typeface="Inter"/>
              </a:rPr>
              <a:t>03 / 34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934057"/>
            <a:ext cx="10728960" cy="310991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1689">
                <a:solidFill>
                  <a:srgbClr val="60A5FA"/>
                </a:solidFill>
                <a:latin typeface="Inter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373755"/>
            <a:ext cx="10728960" cy="696396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5220">
                <a:solidFill>
                  <a:srgbClr val="FFFFFF"/>
                </a:solidFill>
                <a:latin typeface="Inter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51996"/>
            <a:ext cx="1235035" cy="186570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010">
                <a:solidFill>
                  <a:srgbClr val="475569"/>
                </a:solidFill>
                <a:latin typeface="Inter"/>
              </a:rPr>
              <a:t>Fast Engine Startup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23758" y="6451996"/>
            <a:ext cx="436721" cy="186570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010">
                <a:solidFill>
                  <a:srgbClr val="475569"/>
                </a:solidFill>
                <a:latin typeface="Inter"/>
              </a:rPr>
              <a:t>04 / 34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33888"/>
            <a:ext cx="10728960" cy="203715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1110">
                <a:solidFill>
                  <a:srgbClr val="2563EB"/>
                </a:solidFill>
                <a:latin typeface="Inter"/>
              </a:rPr>
              <a:t>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35831"/>
            <a:ext cx="10728960" cy="448627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3070">
                <a:solidFill>
                  <a:srgbClr val="0F172A"/>
                </a:solidFill>
                <a:latin typeface="Inter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9157"/>
            <a:ext cx="8153995" cy="963453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2920">
                <a:solidFill>
                  <a:srgbClr val="0F172A"/>
                </a:solidFill>
                <a:latin typeface="Inter"/>
              </a:rPr>
              <a:t>Time from request to first reply, and the GPU‑seconds billed before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51996"/>
            <a:ext cx="1235035" cy="186570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010">
                <a:solidFill>
                  <a:srgbClr val="94A3B8"/>
                </a:solidFill>
                <a:latin typeface="Inter"/>
              </a:rPr>
              <a:t>Fast Engine Startup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23758" y="6451996"/>
            <a:ext cx="436721" cy="186570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010">
                <a:solidFill>
                  <a:srgbClr val="94A3B8"/>
                </a:solidFill>
                <a:latin typeface="Inter"/>
              </a:rPr>
              <a:t>05 / 34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33888"/>
            <a:ext cx="10728960" cy="203715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1110">
                <a:solidFill>
                  <a:srgbClr val="2563EB"/>
                </a:solidFill>
                <a:latin typeface="Inter"/>
              </a:rPr>
              <a:t>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35831"/>
            <a:ext cx="10728960" cy="448627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3070">
                <a:solidFill>
                  <a:srgbClr val="0F172A"/>
                </a:solidFill>
                <a:latin typeface="Inter"/>
              </a:rPr>
              <a:t>Baseline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96521"/>
          <a:ext cx="10728960" cy="17951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2240"/>
                <a:gridCol w="2682240"/>
                <a:gridCol w="2682240"/>
                <a:gridCol w="2682240"/>
              </a:tblGrid>
              <a:tr h="448776"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64748B"/>
                          </a:solidFill>
                          <a:latin typeface="Inter"/>
                        </a:rPr>
                        <a:t>WORKLOAD</a:t>
                      </a:r>
                    </a:p>
                  </a:txBody>
                  <a:tcPr marL="60960" marR="60960" marT="30480" marB="3048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64748B"/>
                          </a:solidFill>
                          <a:latin typeface="Inter"/>
                        </a:rPr>
                        <a:t>WEIGHTS</a:t>
                      </a:r>
                    </a:p>
                  </a:txBody>
                  <a:tcPr marL="60960" marR="60960" marT="30480" marB="3048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64748B"/>
                          </a:solidFill>
                          <a:latin typeface="Inter"/>
                        </a:rPr>
                        <a:t>STARTUP</a:t>
                      </a:r>
                    </a:p>
                  </a:txBody>
                  <a:tcPr marL="60960" marR="60960" marT="30480" marB="3048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64748B"/>
                          </a:solidFill>
                          <a:latin typeface="Inter"/>
                        </a:rPr>
                        <a:t>GPU COST PER START</a:t>
                      </a:r>
                    </a:p>
                  </a:txBody>
                  <a:tcPr marL="60960" marR="60960" marT="30480" marB="30480">
                    <a:noFill/>
                  </a:tcPr>
                </a:tc>
              </a:tr>
              <a:tr h="448776">
                <a:tc>
                  <a:txBody>
                    <a:bodyPr wrap="square"/>
                    <a:lstStyle/>
                    <a:p>
                      <a:r>
                        <a:rPr b="1" sz="1410">
                          <a:solidFill>
                            <a:srgbClr val="0F172A"/>
                          </a:solidFill>
                          <a:latin typeface="Inter"/>
                        </a:rPr>
                        <a:t>Qwen3-30B · 2×H100</a:t>
                      </a:r>
                    </a:p>
                  </a:txBody>
                  <a:tcPr marL="60960" marR="60960" marT="30480" marB="3048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10">
                          <a:solidFill>
                            <a:srgbClr val="334155"/>
                          </a:solidFill>
                          <a:latin typeface="Inter"/>
                        </a:rPr>
                        <a:t>61 GB</a:t>
                      </a:r>
                    </a:p>
                  </a:txBody>
                  <a:tcPr marL="60960" marR="60960" marT="30480" marB="3048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10">
                          <a:solidFill>
                            <a:srgbClr val="334155"/>
                          </a:solidFill>
                          <a:latin typeface="Inter"/>
                        </a:rPr>
                        <a:t>229.8 s</a:t>
                      </a:r>
                    </a:p>
                  </a:txBody>
                  <a:tcPr marL="60960" marR="60960" marT="30480" marB="3048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10">
                          <a:solidFill>
                            <a:srgbClr val="334155"/>
                          </a:solidFill>
                          <a:latin typeface="Inter"/>
                        </a:rPr>
                        <a:t>$0.50</a:t>
                      </a:r>
                    </a:p>
                  </a:txBody>
                  <a:tcPr marL="60960" marR="60960" marT="30480" marB="30480">
                    <a:noFill/>
                  </a:tcPr>
                </a:tc>
              </a:tr>
              <a:tr h="448776">
                <a:tc>
                  <a:txBody>
                    <a:bodyPr wrap="square"/>
                    <a:lstStyle/>
                    <a:p>
                      <a:r>
                        <a:rPr b="1" sz="1410">
                          <a:solidFill>
                            <a:srgbClr val="0F172A"/>
                          </a:solidFill>
                          <a:latin typeface="Inter"/>
                        </a:rPr>
                        <a:t>Qwen3-30B · 2 engines on 4×H100</a:t>
                      </a:r>
                    </a:p>
                  </a:txBody>
                  <a:tcPr marL="60960" marR="60960" marT="30480" marB="3048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10">
                          <a:solidFill>
                            <a:srgbClr val="334155"/>
                          </a:solidFill>
                          <a:latin typeface="Inter"/>
                        </a:rPr>
                        <a:t>61 GB</a:t>
                      </a:r>
                    </a:p>
                  </a:txBody>
                  <a:tcPr marL="60960" marR="60960" marT="30480" marB="3048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10">
                          <a:solidFill>
                            <a:srgbClr val="334155"/>
                          </a:solidFill>
                          <a:latin typeface="Inter"/>
                        </a:rPr>
                        <a:t>223.9 s</a:t>
                      </a:r>
                    </a:p>
                  </a:txBody>
                  <a:tcPr marL="60960" marR="60960" marT="30480" marB="3048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10">
                          <a:solidFill>
                            <a:srgbClr val="334155"/>
                          </a:solidFill>
                          <a:latin typeface="Inter"/>
                        </a:rPr>
                        <a:t>$0.98</a:t>
                      </a:r>
                    </a:p>
                  </a:txBody>
                  <a:tcPr marL="60960" marR="60960" marT="30480" marB="30480">
                    <a:noFill/>
                  </a:tcPr>
                </a:tc>
              </a:tr>
              <a:tr h="448777">
                <a:tc>
                  <a:txBody>
                    <a:bodyPr wrap="square"/>
                    <a:lstStyle/>
                    <a:p>
                      <a:r>
                        <a:rPr b="1" sz="1410">
                          <a:solidFill>
                            <a:srgbClr val="0F172A"/>
                          </a:solidFill>
                          <a:latin typeface="Inter"/>
                        </a:rPr>
                        <a:t>Qwen3-235B · 8×B200</a:t>
                      </a:r>
                    </a:p>
                  </a:txBody>
                  <a:tcPr marL="60960" marR="60960" marT="30480" marB="3048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10">
                          <a:solidFill>
                            <a:srgbClr val="334155"/>
                          </a:solidFill>
                          <a:latin typeface="Inter"/>
                        </a:rPr>
                        <a:t>470 GB</a:t>
                      </a:r>
                    </a:p>
                  </a:txBody>
                  <a:tcPr marL="60960" marR="60960" marT="30480" marB="3048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10">
                          <a:solidFill>
                            <a:srgbClr val="334155"/>
                          </a:solidFill>
                          <a:latin typeface="Inter"/>
                        </a:rPr>
                        <a:t>951.5 s</a:t>
                      </a:r>
                    </a:p>
                  </a:txBody>
                  <a:tcPr marL="60960" marR="60960" marT="30480" marB="3048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10">
                          <a:solidFill>
                            <a:srgbClr val="334155"/>
                          </a:solidFill>
                          <a:latin typeface="Inter"/>
                        </a:rPr>
                        <a:t>$13.22</a:t>
                      </a:r>
                    </a:p>
                  </a:txBody>
                  <a:tcPr marL="60960" marR="60960" marT="30480" marB="30480"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651527"/>
            <a:ext cx="10728960" cy="231814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260">
                <a:solidFill>
                  <a:srgbClr val="64748B"/>
                </a:solidFill>
                <a:latin typeface="Inter"/>
              </a:rPr>
              <a:t>Cold start: a fresh sandbox per trial, stock SGLang v0.5.20, no caches. Weights pre-downloaded to a Modal volume.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51996"/>
            <a:ext cx="1235035" cy="186570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010">
                <a:solidFill>
                  <a:srgbClr val="94A3B8"/>
                </a:solidFill>
                <a:latin typeface="Inter"/>
              </a:rPr>
              <a:t>Fast Engine Startup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758" y="6451996"/>
            <a:ext cx="436721" cy="186570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010">
                <a:solidFill>
                  <a:srgbClr val="94A3B8"/>
                </a:solidFill>
                <a:latin typeface="Inter"/>
              </a:rPr>
              <a:t>06 / 34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934057"/>
            <a:ext cx="10728960" cy="310991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1689">
                <a:solidFill>
                  <a:srgbClr val="60A5FA"/>
                </a:solidFill>
                <a:latin typeface="Inter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373755"/>
            <a:ext cx="10728960" cy="696396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5220">
                <a:solidFill>
                  <a:srgbClr val="FFFFFF"/>
                </a:solidFill>
                <a:latin typeface="Inter"/>
              </a:rPr>
              <a:t>Find the critical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51996"/>
            <a:ext cx="1235035" cy="186570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010">
                <a:solidFill>
                  <a:srgbClr val="475569"/>
                </a:solidFill>
                <a:latin typeface="Inter"/>
              </a:rPr>
              <a:t>Fast Engine Startup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23758" y="6451996"/>
            <a:ext cx="436721" cy="186570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010">
                <a:solidFill>
                  <a:srgbClr val="475569"/>
                </a:solidFill>
                <a:latin typeface="Inter"/>
              </a:rPr>
              <a:t>07 / 34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33888"/>
            <a:ext cx="10728960" cy="203715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1110">
                <a:solidFill>
                  <a:srgbClr val="2563EB"/>
                </a:solidFill>
                <a:latin typeface="Inter"/>
              </a:rPr>
              <a:t>FIND THE CRITICAL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35831"/>
            <a:ext cx="10728960" cy="448627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3070">
                <a:solidFill>
                  <a:srgbClr val="0F172A"/>
                </a:solidFill>
                <a:latin typeface="Inter"/>
              </a:rPr>
              <a:t>Where the time goes</a:t>
            </a:r>
          </a:p>
        </p:txBody>
      </p:sp>
      <p:pic>
        <p:nvPicPr>
          <p:cNvPr id="4" name="Picture 3" descr="7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6521"/>
            <a:ext cx="10728960" cy="682585"/>
          </a:xfrm>
          <a:prstGeom prst="rect">
            <a:avLst/>
          </a:prstGeom>
        </p:spPr>
      </p:pic>
      <p:pic>
        <p:nvPicPr>
          <p:cNvPr id="5" name="Picture 4" descr="7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574131"/>
            <a:ext cx="10728960" cy="682585"/>
          </a:xfrm>
          <a:prstGeom prst="rect">
            <a:avLst/>
          </a:prstGeom>
        </p:spPr>
      </p:pic>
      <p:pic>
        <p:nvPicPr>
          <p:cNvPr id="6" name="Picture 5" descr="7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6458" y="3451740"/>
            <a:ext cx="9314021" cy="22062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3867388"/>
            <a:ext cx="5247441" cy="969406"/>
          </a:xfrm>
          <a:prstGeom prst="roundRect">
            <a:avLst>
              <a:gd name="adj" fmla="val 943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5564" bIns="175564" lIns="214579" rIns="214579"/>
          <a:lstStyle/>
          <a:p>
            <a:pPr algn="ctr"/>
            <a:r>
              <a:rPr b="1" sz="1200">
                <a:solidFill>
                  <a:srgbClr val="2563EB"/>
                </a:solidFill>
                <a:latin typeface="Inter"/>
              </a:rPr>
              <a:t>GPUS MOSTLY WAIT</a:t>
            </a:r>
          </a:p>
          <a:p>
            <a:pPr algn="ctr"/>
            <a:r>
              <a:rPr b="0" sz="1540">
                <a:solidFill>
                  <a:srgbClr val="334155"/>
                </a:solidFill>
                <a:latin typeface="Inter"/>
              </a:rPr>
              <a:t>On imports, file reads and kernel compilation.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867388"/>
            <a:ext cx="30480" cy="96940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3038" y="3867388"/>
            <a:ext cx="5247441" cy="969406"/>
          </a:xfrm>
          <a:prstGeom prst="roundRect">
            <a:avLst>
              <a:gd name="adj" fmla="val 943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5564" bIns="175564" lIns="214579" rIns="214579"/>
          <a:lstStyle/>
          <a:p>
            <a:pPr algn="ctr"/>
            <a:r>
              <a:rPr b="1" sz="1200">
                <a:solidFill>
                  <a:srgbClr val="059669"/>
                </a:solidFill>
                <a:latin typeface="Inter"/>
              </a:rPr>
              <a:t>EACH PHASE NEEDS ITS OWN FIX</a:t>
            </a:r>
          </a:p>
          <a:p>
            <a:pPr algn="ctr"/>
            <a:r>
              <a:rPr b="0" sz="1540">
                <a:solidFill>
                  <a:srgbClr val="334155"/>
                </a:solidFill>
                <a:latin typeface="Inter"/>
              </a:rPr>
              <a:t>Cache, prefetch, fewer graphs, less Python.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3038" y="3867388"/>
            <a:ext cx="30480" cy="969406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5070871"/>
            <a:ext cx="10728960" cy="853678"/>
          </a:xfrm>
          <a:prstGeom prst="roundRect">
            <a:avLst>
              <a:gd name="adj" fmla="val 107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6550" bIns="136550" lIns="195072" rIns="195072"/>
          <a:lstStyle/>
          <a:p>
            <a:pPr algn="ctr"/>
            <a:r>
              <a:rPr b="1" sz="1540">
                <a:solidFill>
                  <a:srgbClr val="0F172A"/>
                </a:solidFill>
                <a:latin typeface="Inter"/>
              </a:rPr>
              <a:t>First cold start of a model is worse:</a:t>
            </a:r>
            <a:r>
              <a:rPr b="0" sz="1540">
                <a:solidFill>
                  <a:srgbClr val="334155"/>
                </a:solidFill>
                <a:latin typeface="Inter"/>
              </a:rPr>
              <a:t> GPUs are claimed first, so they also sit idle through the weight download: 30B 2–3 min on 2×H100, 235B ~17 min on 8×B200.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51996"/>
            <a:ext cx="1235035" cy="186570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010">
                <a:solidFill>
                  <a:srgbClr val="94A3B8"/>
                </a:solidFill>
                <a:latin typeface="Inter"/>
              </a:rPr>
              <a:t>Fast Engine Startup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23758" y="6451996"/>
            <a:ext cx="436721" cy="186570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010">
                <a:solidFill>
                  <a:srgbClr val="94A3B8"/>
                </a:solidFill>
                <a:latin typeface="Inter"/>
              </a:rPr>
              <a:t>08 / 34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33888"/>
            <a:ext cx="10728960" cy="203715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1110">
                <a:solidFill>
                  <a:srgbClr val="2563EB"/>
                </a:solidFill>
                <a:latin typeface="Inter"/>
              </a:rPr>
              <a:t>FIND THE CRITICAL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35831"/>
            <a:ext cx="10728960" cy="448627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3070">
                <a:solidFill>
                  <a:srgbClr val="0F172A"/>
                </a:solidFill>
                <a:latin typeface="Inter"/>
              </a:rPr>
              <a:t>Phases and fixes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96521"/>
          <a:ext cx="10728960" cy="27611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2240"/>
                <a:gridCol w="2682240"/>
                <a:gridCol w="2682240"/>
                <a:gridCol w="2682240"/>
              </a:tblGrid>
              <a:tr h="460196"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64748B"/>
                          </a:solidFill>
                          <a:latin typeface="Inter"/>
                        </a:rPr>
                        <a:t>PHASE</a:t>
                      </a:r>
                    </a:p>
                  </a:txBody>
                  <a:tcPr marL="60960" marR="60960" marT="30480" marB="3048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64748B"/>
                          </a:solidFill>
                          <a:latin typeface="Inter"/>
                        </a:rPr>
                        <a:t>30B</a:t>
                      </a:r>
                    </a:p>
                  </a:txBody>
                  <a:tcPr marL="60960" marR="60960" marT="30480" marB="3048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64748B"/>
                          </a:solidFill>
                          <a:latin typeface="Inter"/>
                        </a:rPr>
                        <a:t>BOTTLENECK</a:t>
                      </a:r>
                    </a:p>
                  </a:txBody>
                  <a:tcPr marL="60960" marR="60960" marT="30480" marB="3048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64748B"/>
                          </a:solidFill>
                          <a:latin typeface="Inter"/>
                        </a:rPr>
                        <a:t>FIX</a:t>
                      </a:r>
                    </a:p>
                  </a:txBody>
                  <a:tcPr marL="60960" marR="60960" marT="30480" marB="30480">
                    <a:noFill/>
                  </a:tcPr>
                </a:tc>
              </a:tr>
              <a:tr h="460196">
                <a:tc>
                  <a:txBody>
                    <a:bodyPr wrap="square"/>
                    <a:lstStyle/>
                    <a:p>
                      <a:r>
                        <a:rPr b="1" sz="1410">
                          <a:solidFill>
                            <a:srgbClr val="0F172A"/>
                          </a:solidFill>
                          <a:latin typeface="Inter"/>
                        </a:rPr>
                        <a:t>Imports + spawn</a:t>
                      </a:r>
                    </a:p>
                  </a:txBody>
                  <a:tcPr marL="60960" marR="60960" marT="30480" marB="3048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10">
                          <a:solidFill>
                            <a:srgbClr val="334155"/>
                          </a:solidFill>
                          <a:latin typeface="Inter"/>
                        </a:rPr>
                        <a:t>58 s</a:t>
                      </a:r>
                    </a:p>
                  </a:txBody>
                  <a:tcPr marL="60960" marR="60960" marT="30480" marB="3048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10">
                          <a:solidFill>
                            <a:srgbClr val="334155"/>
                          </a:solidFill>
                          <a:latin typeface="Inter"/>
                        </a:rPr>
                        <a:t>Python imports, repeated per process</a:t>
                      </a:r>
                    </a:p>
                  </a:txBody>
                  <a:tcPr marL="60960" marR="60960" marT="30480" marB="3048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10">
                          <a:solidFill>
                            <a:srgbClr val="334155"/>
                          </a:solidFill>
                          <a:latin typeface="Inter"/>
                        </a:rPr>
                        <a:t>Bytecode, lazy imports</a:t>
                      </a:r>
                    </a:p>
                  </a:txBody>
                  <a:tcPr marL="60960" marR="60960" marT="30480" marB="30480">
                    <a:noFill/>
                  </a:tcPr>
                </a:tc>
              </a:tr>
              <a:tr h="460196">
                <a:tc>
                  <a:txBody>
                    <a:bodyPr wrap="square"/>
                    <a:lstStyle/>
                    <a:p>
                      <a:r>
                        <a:rPr b="1" sz="1410">
                          <a:solidFill>
                            <a:srgbClr val="0F172A"/>
                          </a:solidFill>
                          <a:latin typeface="Inter"/>
                        </a:rPr>
                        <a:t>NCCL init</a:t>
                      </a:r>
                    </a:p>
                  </a:txBody>
                  <a:tcPr marL="60960" marR="60960" marT="30480" marB="3048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10">
                          <a:solidFill>
                            <a:srgbClr val="334155"/>
                          </a:solidFill>
                          <a:latin typeface="Inter"/>
                        </a:rPr>
                        <a:t>19 s</a:t>
                      </a:r>
                    </a:p>
                  </a:txBody>
                  <a:tcPr marL="60960" marR="60960" marT="30480" marB="3048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10">
                          <a:solidFill>
                            <a:srgbClr val="334155"/>
                          </a:solidFill>
                          <a:latin typeface="Inter"/>
                        </a:rPr>
                        <a:t>Kernel compilation</a:t>
                      </a:r>
                    </a:p>
                  </a:txBody>
                  <a:tcPr marL="60960" marR="60960" marT="30480" marB="3048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10">
                          <a:solidFill>
                            <a:srgbClr val="334155"/>
                          </a:solidFill>
                          <a:latin typeface="Inter"/>
                        </a:rPr>
                        <a:t>Compile cache</a:t>
                      </a:r>
                    </a:p>
                  </a:txBody>
                  <a:tcPr marL="60960" marR="60960" marT="30480" marB="30480">
                    <a:noFill/>
                  </a:tcPr>
                </a:tc>
              </a:tr>
              <a:tr h="460196">
                <a:tc>
                  <a:txBody>
                    <a:bodyPr wrap="square"/>
                    <a:lstStyle/>
                    <a:p>
                      <a:r>
                        <a:rPr b="1" sz="1410">
                          <a:solidFill>
                            <a:srgbClr val="0F172A"/>
                          </a:solidFill>
                          <a:latin typeface="Inter"/>
                        </a:rPr>
                        <a:t>Weight load</a:t>
                      </a:r>
                    </a:p>
                  </a:txBody>
                  <a:tcPr marL="60960" marR="60960" marT="30480" marB="3048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10">
                          <a:solidFill>
                            <a:srgbClr val="334155"/>
                          </a:solidFill>
                          <a:latin typeface="Inter"/>
                        </a:rPr>
                        <a:t>62 s</a:t>
                      </a:r>
                    </a:p>
                  </a:txBody>
                  <a:tcPr marL="60960" marR="60960" marT="30480" marB="3048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10">
                          <a:solidFill>
                            <a:srgbClr val="334155"/>
                          </a:solidFill>
                          <a:latin typeface="Inter"/>
                        </a:rPr>
                        <a:t>Reading from the volume</a:t>
                      </a:r>
                    </a:p>
                  </a:txBody>
                  <a:tcPr marL="60960" marR="60960" marT="30480" marB="3048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10">
                          <a:solidFill>
                            <a:srgbClr val="334155"/>
                          </a:solidFill>
                          <a:latin typeface="Inter"/>
                        </a:rPr>
                        <a:t>Prefetch into RAM</a:t>
                      </a:r>
                    </a:p>
                  </a:txBody>
                  <a:tcPr marL="60960" marR="60960" marT="30480" marB="30480">
                    <a:noFill/>
                  </a:tcPr>
                </a:tc>
              </a:tr>
              <a:tr h="460196">
                <a:tc>
                  <a:txBody>
                    <a:bodyPr wrap="square"/>
                    <a:lstStyle/>
                    <a:p>
                      <a:r>
                        <a:rPr b="1" sz="1410">
                          <a:solidFill>
                            <a:srgbClr val="0F172A"/>
                          </a:solidFill>
                          <a:latin typeface="Inter"/>
                        </a:rPr>
                        <a:t>CUDA graphs</a:t>
                      </a:r>
                    </a:p>
                  </a:txBody>
                  <a:tcPr marL="60960" marR="60960" marT="30480" marB="3048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10">
                          <a:solidFill>
                            <a:srgbClr val="334155"/>
                          </a:solidFill>
                          <a:latin typeface="Inter"/>
                        </a:rPr>
                        <a:t>72 s</a:t>
                      </a:r>
                    </a:p>
                  </a:txBody>
                  <a:tcPr marL="60960" marR="60960" marT="30480" marB="3048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10">
                          <a:solidFill>
                            <a:srgbClr val="334155"/>
                          </a:solidFill>
                          <a:latin typeface="Inter"/>
                        </a:rPr>
                        <a:t>Compilation + 94 graphs</a:t>
                      </a:r>
                    </a:p>
                  </a:txBody>
                  <a:tcPr marL="60960" marR="60960" marT="30480" marB="3048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10">
                          <a:solidFill>
                            <a:srgbClr val="334155"/>
                          </a:solidFill>
                          <a:latin typeface="Inter"/>
                        </a:rPr>
                        <a:t>Compile cache + pow2</a:t>
                      </a:r>
                    </a:p>
                  </a:txBody>
                  <a:tcPr marL="60960" marR="60960" marT="30480" marB="30480">
                    <a:noFill/>
                  </a:tcPr>
                </a:tc>
              </a:tr>
              <a:tr h="460198">
                <a:tc>
                  <a:txBody>
                    <a:bodyPr wrap="square"/>
                    <a:lstStyle/>
                    <a:p>
                      <a:r>
                        <a:rPr b="1" sz="1410">
                          <a:solidFill>
                            <a:srgbClr val="0F172A"/>
                          </a:solidFill>
                          <a:latin typeface="Inter"/>
                        </a:rPr>
                        <a:t>Other</a:t>
                      </a:r>
                    </a:p>
                  </a:txBody>
                  <a:tcPr marL="60960" marR="60960" marT="30480" marB="3048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10">
                          <a:solidFill>
                            <a:srgbClr val="334155"/>
                          </a:solidFill>
                          <a:latin typeface="Inter"/>
                        </a:rPr>
                        <a:t>19 s</a:t>
                      </a:r>
                    </a:p>
                  </a:txBody>
                  <a:tcPr marL="60960" marR="60960" marT="30480" marB="3048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10">
                          <a:solidFill>
                            <a:srgbClr val="334155"/>
                          </a:solidFill>
                          <a:latin typeface="Inter"/>
                        </a:rPr>
                        <a:t>Warmup kernels</a:t>
                      </a:r>
                    </a:p>
                  </a:txBody>
                  <a:tcPr marL="60960" marR="60960" marT="30480" marB="3048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10">
                          <a:solidFill>
                            <a:srgbClr val="334155"/>
                          </a:solidFill>
                          <a:latin typeface="Inter"/>
                        </a:rPr>
                        <a:t>Compile cache</a:t>
                      </a:r>
                    </a:p>
                  </a:txBody>
                  <a:tcPr marL="60960" marR="60960" marT="30480" marB="30480"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617600"/>
            <a:ext cx="10728960" cy="231814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260">
                <a:solidFill>
                  <a:srgbClr val="64748B"/>
                </a:solidFill>
                <a:latin typeface="Inter"/>
              </a:rPr>
              <a:t>For 235B, weight load alone is 564 of 951 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51996"/>
            <a:ext cx="1235035" cy="186570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010">
                <a:solidFill>
                  <a:srgbClr val="94A3B8"/>
                </a:solidFill>
                <a:latin typeface="Inter"/>
              </a:rPr>
              <a:t>Fast Engine Startup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758" y="6451996"/>
            <a:ext cx="436721" cy="186570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010">
                <a:solidFill>
                  <a:srgbClr val="94A3B8"/>
                </a:solidFill>
                <a:latin typeface="Inter"/>
              </a:rPr>
              <a:t>09 / 34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934057"/>
            <a:ext cx="10728960" cy="310991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1689">
                <a:solidFill>
                  <a:srgbClr val="60A5FA"/>
                </a:solidFill>
                <a:latin typeface="Inter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373755"/>
            <a:ext cx="10728960" cy="696396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5220">
                <a:solidFill>
                  <a:srgbClr val="FFFFFF"/>
                </a:solidFill>
                <a:latin typeface="Inter"/>
              </a:rPr>
              <a:t>A solution for each component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51996"/>
            <a:ext cx="1235035" cy="186570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010">
                <a:solidFill>
                  <a:srgbClr val="475569"/>
                </a:solidFill>
                <a:latin typeface="Inter"/>
              </a:rPr>
              <a:t>Fast Engine Startup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23758" y="6451996"/>
            <a:ext cx="436721" cy="186570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010">
                <a:solidFill>
                  <a:srgbClr val="475569"/>
                </a:solidFill>
                <a:latin typeface="Inter"/>
              </a:rPr>
              <a:t>10 / 34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33888"/>
            <a:ext cx="10728960" cy="203715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1110">
                <a:solidFill>
                  <a:srgbClr val="2563EB"/>
                </a:solidFill>
                <a:latin typeface="Inter"/>
              </a:rPr>
              <a:t>WEIGHTS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35831"/>
            <a:ext cx="10728960" cy="448627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3070">
                <a:solidFill>
                  <a:srgbClr val="0F172A"/>
                </a:solidFill>
                <a:latin typeface="Inter"/>
              </a:rPr>
              <a:t>Weights: cold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32227"/>
            <a:ext cx="10728960" cy="310991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689">
                <a:solidFill>
                  <a:srgbClr val="334155"/>
                </a:solidFill>
                <a:latin typeface="Inter"/>
              </a:rPr>
              <a:t>A model's first start downloads its weights, on a CPU sandbox, before any GPU is claimed.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00632"/>
            <a:ext cx="5374600" cy="220622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1200">
                <a:solidFill>
                  <a:srgbClr val="059669"/>
                </a:solidFill>
                <a:latin typeface="Inter"/>
              </a:rPr>
              <a:t>PROS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09004"/>
            <a:ext cx="5374600" cy="93606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Aft>
                <a:spcPts val="600"/>
              </a:spcAft>
            </a:pPr>
            <a:r>
              <a:rPr b="0" sz="1540">
                <a:solidFill>
                  <a:srgbClr val="334155"/>
                </a:solidFill>
                <a:latin typeface="Inter"/>
              </a:rPr>
              <a:t>•  </a:t>
            </a:r>
            <a:r>
              <a:rPr b="0" sz="1540">
                <a:solidFill>
                  <a:srgbClr val="334155"/>
                </a:solidFill>
                <a:latin typeface="Inter"/>
              </a:rPr>
              <a:t>No GPU billed during the download</a:t>
            </a:r>
          </a:p>
          <a:p>
            <a:pPr>
              <a:spcAft>
                <a:spcPts val="600"/>
              </a:spcAft>
            </a:pPr>
            <a:r>
              <a:rPr b="0" sz="1540">
                <a:solidFill>
                  <a:srgbClr val="334155"/>
                </a:solidFill>
                <a:latin typeface="Inter"/>
              </a:rPr>
              <a:t>•  </a:t>
            </a:r>
            <a:r>
              <a:rPr b="0" sz="1540">
                <a:solidFill>
                  <a:srgbClr val="334155"/>
                </a:solidFill>
                <a:latin typeface="Inter"/>
              </a:rPr>
              <a:t>Saved to the model's own volume: later starts skip the download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97116"/>
            <a:ext cx="5374600" cy="220622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1200">
                <a:solidFill>
                  <a:srgbClr val="DC2626"/>
                </a:solidFill>
                <a:latin typeface="Inter"/>
              </a:rPr>
              <a:t>CONS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05488"/>
            <a:ext cx="5374600" cy="121884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Aft>
                <a:spcPts val="600"/>
              </a:spcAft>
            </a:pPr>
            <a:r>
              <a:rPr b="0" sz="1540">
                <a:solidFill>
                  <a:srgbClr val="334155"/>
                </a:solidFill>
                <a:latin typeface="Inter"/>
              </a:rPr>
              <a:t>•  </a:t>
            </a:r>
            <a:r>
              <a:rPr b="0" sz="1540">
                <a:solidFill>
                  <a:srgbClr val="334155"/>
                </a:solidFill>
                <a:latin typeface="Inter"/>
              </a:rPr>
              <a:t>Storage cost: every model's weights stay on a volume (235B: 470 GB)</a:t>
            </a:r>
          </a:p>
          <a:p>
            <a:pPr>
              <a:spcAft>
                <a:spcPts val="600"/>
              </a:spcAft>
            </a:pPr>
            <a:r>
              <a:rPr b="0" sz="1540">
                <a:solidFill>
                  <a:srgbClr val="334155"/>
                </a:solidFill>
                <a:latin typeface="Inter"/>
              </a:rPr>
              <a:t>•  </a:t>
            </a:r>
            <a:r>
              <a:rPr b="0" sz="1540">
                <a:solidFill>
                  <a:srgbClr val="334155"/>
                </a:solidFill>
                <a:latin typeface="Inter"/>
              </a:rPr>
              <a:t>Volumes must be managed: remove unused models, keep the catalog in sync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74274" y="2200632"/>
          <a:ext cx="4886205" cy="150447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28735"/>
                <a:gridCol w="1628735"/>
                <a:gridCol w="1628735"/>
              </a:tblGrid>
              <a:tr h="501491"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64748B"/>
                          </a:solidFill>
                          <a:latin typeface="Inter"/>
                        </a:rPr>
                        <a:t>MODEL</a:t>
                      </a:r>
                    </a:p>
                  </a:txBody>
                  <a:tcPr marL="60960" marR="60960" marT="30480" marB="3048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64748B"/>
                          </a:solidFill>
                          <a:latin typeface="Inter"/>
                        </a:rPr>
                        <a:t>DOWNLOAD</a:t>
                      </a:r>
                    </a:p>
                  </a:txBody>
                  <a:tcPr marL="60960" marR="60960" marT="30480" marB="3048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64748B"/>
                          </a:solidFill>
                          <a:latin typeface="Inter"/>
                        </a:rPr>
                        <a:t>GPU COST IF CLAIMED FIRST</a:t>
                      </a:r>
                    </a:p>
                  </a:txBody>
                  <a:tcPr marL="60960" marR="60960" marT="30480" marB="30480">
                    <a:noFill/>
                  </a:tcPr>
                </a:tc>
              </a:tr>
              <a:tr h="501491">
                <a:tc>
                  <a:txBody>
                    <a:bodyPr wrap="square"/>
                    <a:lstStyle/>
                    <a:p>
                      <a:r>
                        <a:rPr b="1" sz="1410">
                          <a:solidFill>
                            <a:srgbClr val="0F172A"/>
                          </a:solidFill>
                          <a:latin typeface="Inter"/>
                        </a:rPr>
                        <a:t>30B · 61 GB</a:t>
                      </a:r>
                    </a:p>
                  </a:txBody>
                  <a:tcPr marL="60960" marR="60960" marT="30480" marB="3048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10">
                          <a:solidFill>
                            <a:srgbClr val="334155"/>
                          </a:solidFill>
                          <a:latin typeface="Inter"/>
                        </a:rPr>
                        <a:t>135–195 s</a:t>
                      </a:r>
                    </a:p>
                  </a:txBody>
                  <a:tcPr marL="60960" marR="60960" marT="30480" marB="3048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10">
                          <a:solidFill>
                            <a:srgbClr val="334155"/>
                          </a:solidFill>
                          <a:latin typeface="Inter"/>
                        </a:rPr>
                        <a:t>$0.30–0.43</a:t>
                      </a:r>
                    </a:p>
                  </a:txBody>
                  <a:tcPr marL="60960" marR="60960" marT="30480" marB="30480">
                    <a:noFill/>
                  </a:tcPr>
                </a:tc>
              </a:tr>
              <a:tr h="501491">
                <a:tc>
                  <a:txBody>
                    <a:bodyPr wrap="square"/>
                    <a:lstStyle/>
                    <a:p>
                      <a:r>
                        <a:rPr b="1" sz="1410">
                          <a:solidFill>
                            <a:srgbClr val="0F172A"/>
                          </a:solidFill>
                          <a:latin typeface="Inter"/>
                        </a:rPr>
                        <a:t>235B · 470 GB</a:t>
                      </a:r>
                    </a:p>
                  </a:txBody>
                  <a:tcPr marL="60960" marR="60960" marT="30480" marB="3048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10">
                          <a:solidFill>
                            <a:srgbClr val="334155"/>
                          </a:solidFill>
                          <a:latin typeface="Inter"/>
                        </a:rPr>
                        <a:t>1,004 s</a:t>
                      </a:r>
                    </a:p>
                  </a:txBody>
                  <a:tcPr marL="60960" marR="60960" marT="30480" marB="3048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10">
                          <a:solidFill>
                            <a:srgbClr val="334155"/>
                          </a:solidFill>
                          <a:latin typeface="Inter"/>
                        </a:rPr>
                        <a:t>~$14</a:t>
                      </a:r>
                    </a:p>
                  </a:txBody>
                  <a:tcPr marL="60960" marR="60960" marT="30480" marB="30480">
                    <a:noFill/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74274" y="3832979"/>
            <a:ext cx="4886205" cy="231814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260">
                <a:solidFill>
                  <a:srgbClr val="64748B"/>
                </a:solidFill>
                <a:latin typeface="Inter"/>
              </a:rPr>
              <a:t>Now: $0 on GPUs. The cost is the download time × the GPU price.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51996"/>
            <a:ext cx="1235035" cy="186570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010">
                <a:solidFill>
                  <a:srgbClr val="94A3B8"/>
                </a:solidFill>
                <a:latin typeface="Inter"/>
              </a:rPr>
              <a:t>Fast Engine Startup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23758" y="6451996"/>
            <a:ext cx="436721" cy="186570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010">
                <a:solidFill>
                  <a:srgbClr val="94A3B8"/>
                </a:solidFill>
                <a:latin typeface="Inter"/>
              </a:rPr>
              <a:t>11 / 34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33888"/>
            <a:ext cx="10728960" cy="203715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1110">
                <a:solidFill>
                  <a:srgbClr val="2563EB"/>
                </a:solidFill>
                <a:latin typeface="Inter"/>
              </a:rPr>
              <a:t>WEIGHTS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35831"/>
            <a:ext cx="10728960" cy="448627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3070">
                <a:solidFill>
                  <a:srgbClr val="0F172A"/>
                </a:solidFill>
                <a:latin typeface="Inter"/>
              </a:rPr>
              <a:t>Weights: prefetch into 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32227"/>
            <a:ext cx="10728960" cy="310991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689">
                <a:solidFill>
                  <a:srgbClr val="334155"/>
                </a:solidFill>
                <a:latin typeface="Inter"/>
              </a:rPr>
              <a:t>16 threads read all shards into RAM while SGLang is still importing.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00632"/>
            <a:ext cx="5374600" cy="220622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1200">
                <a:solidFill>
                  <a:srgbClr val="059669"/>
                </a:solidFill>
                <a:latin typeface="Inter"/>
              </a:rPr>
              <a:t>PROS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09004"/>
            <a:ext cx="5374600" cy="56554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Aft>
                <a:spcPts val="600"/>
              </a:spcAft>
            </a:pPr>
            <a:r>
              <a:rPr b="0" sz="1540">
                <a:solidFill>
                  <a:srgbClr val="334155"/>
                </a:solidFill>
                <a:latin typeface="Inter"/>
              </a:rPr>
              <a:t>•  </a:t>
            </a:r>
            <a:r>
              <a:rPr b="0" sz="1540">
                <a:solidFill>
                  <a:srgbClr val="334155"/>
                </a:solidFill>
                <a:latin typeface="Inter"/>
              </a:rPr>
              <a:t>Faster SGLang init: weight load 62 → 13 s (30B), 564 → 75 s (235B)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26593"/>
            <a:ext cx="5374600" cy="220622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1200">
                <a:solidFill>
                  <a:srgbClr val="DC2626"/>
                </a:solidFill>
                <a:latin typeface="Inter"/>
              </a:rPr>
              <a:t>CONS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34965"/>
            <a:ext cx="5374600" cy="56554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Aft>
                <a:spcPts val="600"/>
              </a:spcAft>
            </a:pPr>
            <a:r>
              <a:rPr b="0" sz="1540">
                <a:solidFill>
                  <a:srgbClr val="334155"/>
                </a:solidFill>
                <a:latin typeface="Inter"/>
              </a:rPr>
              <a:t>•  </a:t>
            </a:r>
            <a:r>
              <a:rPr b="0" sz="1540">
                <a:solidFill>
                  <a:srgbClr val="334155"/>
                </a:solidFill>
                <a:latin typeface="Inter"/>
              </a:rPr>
              <a:t>Needs a larger-memory host: about 2× the weights (235B: 940 GiB)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74274" y="2200632"/>
            <a:ext cx="4886205" cy="1252180"/>
          </a:xfrm>
          <a:prstGeom prst="roundRect">
            <a:avLst>
              <a:gd name="adj" fmla="val 730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5564" bIns="175564" lIns="214579" rIns="214579"/>
          <a:lstStyle/>
          <a:p>
            <a:pPr algn="ctr"/>
            <a:r>
              <a:rPr b="1" sz="1200">
                <a:solidFill>
                  <a:srgbClr val="2563EB"/>
                </a:solidFill>
                <a:latin typeface="Inter"/>
              </a:rPr>
              <a:t>BEFORE</a:t>
            </a:r>
          </a:p>
          <a:p>
            <a:pPr algn="ctr"/>
            <a:r>
              <a:rPr b="0" sz="1540">
                <a:solidFill>
                  <a:srgbClr val="334155"/>
                </a:solidFill>
                <a:latin typeface="Inter"/>
              </a:rPr>
              <a:t>SGLang reads from the volume on demand, ~1 GB/s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74274" y="2200632"/>
            <a:ext cx="30480" cy="12521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74274" y="3628310"/>
            <a:ext cx="4886205" cy="1252180"/>
          </a:xfrm>
          <a:prstGeom prst="roundRect">
            <a:avLst>
              <a:gd name="adj" fmla="val 730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5564" bIns="175564" lIns="214579" rIns="214579"/>
          <a:lstStyle/>
          <a:p>
            <a:pPr algn="ctr"/>
            <a:r>
              <a:rPr b="1" sz="1200">
                <a:solidFill>
                  <a:srgbClr val="059669"/>
                </a:solidFill>
                <a:latin typeface="Inter"/>
              </a:rPr>
              <a:t>NOW</a:t>
            </a:r>
          </a:p>
          <a:p>
            <a:pPr algn="ctr"/>
            <a:r>
              <a:rPr b="0" sz="1540">
                <a:solidFill>
                  <a:srgbClr val="334155"/>
                </a:solidFill>
                <a:latin typeface="Inter"/>
              </a:rPr>
              <a:t>Parallel read into RAM during imports: ~2 GB/s median (30B), 4.2 GB/s (235B)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74274" y="3628310"/>
            <a:ext cx="30480" cy="125218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74274" y="5055989"/>
            <a:ext cx="4886205" cy="463629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260">
                <a:solidFill>
                  <a:srgbClr val="64748B"/>
                </a:solidFill>
                <a:latin typeface="Inter"/>
              </a:rPr>
              <a:t>The drop combines faster parallel reads and overlap with imports. The 13 s left is the RAM → GPU copy.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51996"/>
            <a:ext cx="1235035" cy="186570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010">
                <a:solidFill>
                  <a:srgbClr val="94A3B8"/>
                </a:solidFill>
                <a:latin typeface="Inter"/>
              </a:rPr>
              <a:t>Fast Engine Startup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23758" y="6451996"/>
            <a:ext cx="436721" cy="186570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010">
                <a:solidFill>
                  <a:srgbClr val="94A3B8"/>
                </a:solidFill>
                <a:latin typeface="Inter"/>
              </a:rPr>
              <a:t>12 / 34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33888"/>
            <a:ext cx="10728960" cy="203715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1110">
                <a:solidFill>
                  <a:srgbClr val="2563EB"/>
                </a:solidFill>
                <a:latin typeface="Inter"/>
              </a:rPr>
              <a:t>WEIGHTS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35831"/>
            <a:ext cx="10728960" cy="448627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3070">
                <a:solidFill>
                  <a:srgbClr val="0F172A"/>
                </a:solidFill>
                <a:latin typeface="Inter"/>
              </a:rPr>
              <a:t>Why prefetch helps</a:t>
            </a:r>
          </a:p>
        </p:txBody>
      </p:sp>
      <p:pic>
        <p:nvPicPr>
          <p:cNvPr id="4" name="Picture 3" descr="12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6521"/>
            <a:ext cx="10728960" cy="155031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3480911"/>
            <a:ext cx="5247441" cy="1534953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5564" bIns="175564" lIns="214579" rIns="214579"/>
          <a:lstStyle/>
          <a:p>
            <a:pPr algn="ctr"/>
            <a:r>
              <a:rPr b="1" sz="1200">
                <a:solidFill>
                  <a:srgbClr val="DC2626"/>
                </a:solidFill>
                <a:latin typeface="Inter"/>
              </a:rPr>
              <a:t>WHY IT IS SLOW</a:t>
            </a:r>
          </a:p>
          <a:p>
            <a:pPr algn="ctr"/>
            <a:r>
              <a:rPr b="0" sz="1540">
                <a:solidFill>
                  <a:srgbClr val="334155"/>
                </a:solidFill>
                <a:latin typeface="Inter"/>
              </a:rPr>
              <a:t>SGLang starts reading weights only after imports and NCCL init, then reads them on demand from the network volume: ~1 GB/s.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480911"/>
            <a:ext cx="30480" cy="1534953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3038" y="3480911"/>
            <a:ext cx="5247441" cy="1534953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5564" bIns="175564" lIns="214579" rIns="214579"/>
          <a:lstStyle/>
          <a:p>
            <a:pPr algn="ctr"/>
            <a:r>
              <a:rPr b="1" sz="1200">
                <a:solidFill>
                  <a:srgbClr val="059669"/>
                </a:solidFill>
                <a:latin typeface="Inter"/>
              </a:rPr>
              <a:t>HOW PREFETCH FIXES IT</a:t>
            </a:r>
          </a:p>
          <a:p>
            <a:pPr algn="ctr"/>
            <a:r>
              <a:rPr b="0" sz="1540">
                <a:solidFill>
                  <a:srgbClr val="334155"/>
                </a:solidFill>
                <a:latin typeface="Inter"/>
              </a:rPr>
              <a:t>At container start, 16 threads read whole shard files into the OS page cache, during the imports. SGLang's reads then hit RAM; only the copy to the GPU is left.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3038" y="3480911"/>
            <a:ext cx="30480" cy="1534953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210889"/>
            <a:ext cx="10728960" cy="231814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260">
                <a:solidFill>
                  <a:srgbClr val="64748B"/>
                </a:solidFill>
                <a:latin typeface="Inter"/>
              </a:rPr>
              <a:t>Qwen3-30B, 2×H100: baseline vs the current engine (median). "Now" also includes the other startup fixes.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51996"/>
            <a:ext cx="1235035" cy="186570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010">
                <a:solidFill>
                  <a:srgbClr val="94A3B8"/>
                </a:solidFill>
                <a:latin typeface="Inter"/>
              </a:rPr>
              <a:t>Fast Engine Startup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23758" y="6451996"/>
            <a:ext cx="436721" cy="186570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010">
                <a:solidFill>
                  <a:srgbClr val="94A3B8"/>
                </a:solidFill>
                <a:latin typeface="Inter"/>
              </a:rPr>
              <a:t>13 / 34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33888"/>
            <a:ext cx="10728960" cy="203715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1110">
                <a:solidFill>
                  <a:srgbClr val="2563EB"/>
                </a:solidFill>
                <a:latin typeface="Inter"/>
              </a:rP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35831"/>
            <a:ext cx="10728960" cy="448627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3070">
                <a:solidFill>
                  <a:srgbClr val="0F172A"/>
                </a:solidFill>
                <a:latin typeface="Inter"/>
              </a:rPr>
              <a:t>Memory layout: user space and kernel 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96521"/>
            <a:ext cx="5208389" cy="203715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1110">
                <a:solidFill>
                  <a:srgbClr val="334155"/>
                </a:solidFill>
                <a:latin typeface="Inter"/>
              </a:rPr>
              <a:t>Virtual address space of one process (Linux, x86-64)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26149" y="1956315"/>
            <a:ext cx="3413760" cy="744974"/>
          </a:xfrm>
          <a:prstGeom prst="roundRect">
            <a:avLst>
              <a:gd name="adj" fmla="val 5114"/>
            </a:avLst>
          </a:prstGeom>
          <a:solidFill>
            <a:srgbClr val="FFF1E6"/>
          </a:solidFill>
          <a:ln w="9525">
            <a:solidFill>
              <a:srgbClr val="FCD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82398" bIns="82398" lIns="96131" rIns="96131"/>
          <a:lstStyle/>
          <a:p>
            <a:pPr algn="ctr"/>
            <a:r>
              <a:rPr b="1" sz="1080">
                <a:solidFill>
                  <a:srgbClr val="0F172A"/>
                </a:solidFill>
                <a:latin typeface="Inter"/>
              </a:rPr>
              <a:t>Kernel space</a:t>
            </a:r>
          </a:p>
          <a:p>
            <a:pPr algn="ctr"/>
            <a:r>
              <a:rPr b="0" sz="969">
                <a:solidFill>
                  <a:srgbClr val="64748B"/>
                </a:solidFill>
                <a:latin typeface="Inter"/>
              </a:rPr>
              <a:t>kernel code + data · direct map of all RAM (incl. page cache)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5257" y="2001321"/>
            <a:ext cx="1353621" cy="155376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840">
                <a:solidFill>
                  <a:srgbClr val="64748B"/>
                </a:solidFill>
                <a:latin typeface="Roboto Mono"/>
              </a:rPr>
              <a:t>0xffff_8000_0000_0000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6149" y="2716530"/>
            <a:ext cx="3413760" cy="228004"/>
          </a:xfrm>
          <a:prstGeom prst="roundRect">
            <a:avLst>
              <a:gd name="adj" fmla="val 16710"/>
            </a:avLst>
          </a:prstGeom>
          <a:noFill/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9260" bIns="29260" lIns="30480" rIns="30480"/>
          <a:lstStyle/>
          <a:p>
            <a:pPr algn="ctr"/>
            <a:r>
              <a:rPr b="0" sz="919">
                <a:solidFill>
                  <a:srgbClr val="94A3B8"/>
                </a:solidFill>
                <a:latin typeface="Inter"/>
              </a:rPr>
              <a:t>non-canonical gap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26149" y="2959774"/>
            <a:ext cx="3413760" cy="317777"/>
          </a:xfrm>
          <a:prstGeom prst="roundRect">
            <a:avLst>
              <a:gd name="adj" fmla="val 11989"/>
            </a:avLst>
          </a:prstGeom>
          <a:solidFill>
            <a:srgbClr val="EFF4FF"/>
          </a:solidFill>
          <a:ln w="9525">
            <a:solidFill>
              <a:srgbClr val="C9D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48065" bIns="48065" lIns="96131" rIns="96131"/>
          <a:lstStyle/>
          <a:p>
            <a:pPr algn="ctr"/>
            <a:r>
              <a:rPr b="1" sz="1080">
                <a:solidFill>
                  <a:srgbClr val="0F172A"/>
                </a:solidFill>
                <a:latin typeface="Inter"/>
              </a:rPr>
              <a:t>Stack</a:t>
            </a:r>
            <a:r>
              <a:rPr b="0" sz="1080">
                <a:solidFill>
                  <a:srgbClr val="0F172A"/>
                </a:solidFill>
                <a:latin typeface="Inter"/>
              </a:rPr>
              <a:t> 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5257" y="3004780"/>
            <a:ext cx="1353621" cy="155376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840">
                <a:solidFill>
                  <a:srgbClr val="64748B"/>
                </a:solidFill>
                <a:latin typeface="Roboto Mono"/>
              </a:rPr>
              <a:t>0x0000_7fff_ffff_ffff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26149" y="3292792"/>
            <a:ext cx="3413760" cy="123586"/>
          </a:xfrm>
          <a:prstGeom prst="roundRect">
            <a:avLst>
              <a:gd name="adj" fmla="val 30828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26149" y="3431619"/>
            <a:ext cx="3413760" cy="496966"/>
          </a:xfrm>
          <a:prstGeom prst="roundRect">
            <a:avLst>
              <a:gd name="adj" fmla="val 7666"/>
            </a:avLst>
          </a:prstGeom>
          <a:solidFill>
            <a:srgbClr val="FDE2E2"/>
          </a:solidFill>
          <a:ln w="9525">
            <a:solidFill>
              <a:srgbClr val="F5B4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48065" bIns="48065" lIns="96131" rIns="96131"/>
          <a:lstStyle/>
          <a:p>
            <a:pPr algn="ctr"/>
            <a:r>
              <a:rPr b="1" sz="1080">
                <a:solidFill>
                  <a:srgbClr val="0F172A"/>
                </a:solidFill>
                <a:latin typeface="Inter"/>
              </a:rPr>
              <a:t>mmap region</a:t>
            </a:r>
          </a:p>
          <a:p>
            <a:pPr algn="ctr"/>
            <a:r>
              <a:rPr b="0" sz="969">
                <a:solidFill>
                  <a:srgbClr val="64748B"/>
                </a:solidFill>
                <a:latin typeface="Inter"/>
              </a:rPr>
              <a:t>shared libraries · </a:t>
            </a:r>
            <a:r>
              <a:rPr b="0" sz="830">
                <a:solidFill>
                  <a:srgbClr val="64748B"/>
                </a:solidFill>
                <a:latin typeface="Roboto Mono"/>
              </a:rPr>
              <a:t>mmap</a:t>
            </a:r>
            <a:r>
              <a:rPr b="0" sz="969">
                <a:solidFill>
                  <a:srgbClr val="64748B"/>
                </a:solidFill>
                <a:latin typeface="Inter"/>
              </a:rPr>
              <a:t> of model-00001.safetensors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26149" y="3943826"/>
            <a:ext cx="3413760" cy="123586"/>
          </a:xfrm>
          <a:prstGeom prst="roundRect">
            <a:avLst>
              <a:gd name="adj" fmla="val 30828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526149" y="4082653"/>
            <a:ext cx="3413760" cy="496966"/>
          </a:xfrm>
          <a:prstGeom prst="roundRect">
            <a:avLst>
              <a:gd name="adj" fmla="val 7666"/>
            </a:avLst>
          </a:prstGeom>
          <a:solidFill>
            <a:srgbClr val="EFF4FF"/>
          </a:solidFill>
          <a:ln w="9525">
            <a:solidFill>
              <a:srgbClr val="C9D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48065" bIns="48065" lIns="96131" rIns="96131"/>
          <a:lstStyle/>
          <a:p>
            <a:pPr algn="ctr"/>
            <a:r>
              <a:rPr b="1" sz="1080">
                <a:solidFill>
                  <a:srgbClr val="0F172A"/>
                </a:solidFill>
                <a:latin typeface="Inter"/>
              </a:rPr>
              <a:t>Heap</a:t>
            </a:r>
            <a:r>
              <a:rPr b="0" sz="1080">
                <a:solidFill>
                  <a:srgbClr val="0F172A"/>
                </a:solidFill>
                <a:latin typeface="Inter"/>
              </a:rPr>
              <a:t> ↑ </a:t>
            </a:r>
          </a:p>
          <a:p>
            <a:pPr algn="ctr"/>
            <a:r>
              <a:rPr b="0" sz="969">
                <a:solidFill>
                  <a:srgbClr val="64748B"/>
                </a:solidFill>
                <a:latin typeface="Inter"/>
              </a:rPr>
              <a:t>Python objects, tensors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26149" y="4594860"/>
            <a:ext cx="3413760" cy="496966"/>
          </a:xfrm>
          <a:prstGeom prst="roundRect">
            <a:avLst>
              <a:gd name="adj" fmla="val 7666"/>
            </a:avLst>
          </a:prstGeom>
          <a:solidFill>
            <a:srgbClr val="EFF4FF"/>
          </a:solidFill>
          <a:ln w="9525">
            <a:solidFill>
              <a:srgbClr val="C9D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48065" bIns="48065" lIns="96131" rIns="96131"/>
          <a:lstStyle/>
          <a:p>
            <a:pPr algn="ctr"/>
            <a:r>
              <a:rPr b="1" sz="1080">
                <a:solidFill>
                  <a:srgbClr val="0F172A"/>
                </a:solidFill>
                <a:latin typeface="Inter"/>
              </a:rPr>
              <a:t>Code + data</a:t>
            </a:r>
          </a:p>
          <a:p>
            <a:pPr algn="ctr"/>
            <a:r>
              <a:rPr b="0" sz="969">
                <a:solidFill>
                  <a:srgbClr val="64748B"/>
                </a:solidFill>
                <a:latin typeface="Inter"/>
              </a:rPr>
              <a:t>python, libtorch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5257" y="4639865"/>
            <a:ext cx="1353621" cy="155376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840">
                <a:solidFill>
                  <a:srgbClr val="64748B"/>
                </a:solidFill>
                <a:latin typeface="Roboto Mono"/>
              </a:rPr>
              <a:t>0x0000_0000_0040_0000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1971" y="1696521"/>
            <a:ext cx="5208508" cy="845343"/>
          </a:xfrm>
          <a:prstGeom prst="roundRect">
            <a:avLst>
              <a:gd name="adj" fmla="val 90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0225" bIns="70225" lIns="109240" rIns="109240"/>
          <a:lstStyle/>
          <a:p>
            <a:pPr algn="ctr"/>
            <a:r>
              <a:rPr b="1" sz="1170">
                <a:solidFill>
                  <a:srgbClr val="0F172A"/>
                </a:solidFill>
                <a:latin typeface="Inter"/>
              </a:rPr>
              <a:t>Page table (per process) + MMU</a:t>
            </a:r>
          </a:p>
          <a:p>
            <a:pPr algn="ctr"/>
            <a:r>
              <a:rPr b="0" sz="1130">
                <a:solidFill>
                  <a:srgbClr val="334155"/>
                </a:solidFill>
                <a:latin typeface="Inter"/>
              </a:rPr>
              <a:t>Translates each 4 KB virtual page to a physical frame. A missing page traps into the kernel: a </a:t>
            </a:r>
            <a:r>
              <a:rPr b="1" sz="1130">
                <a:solidFill>
                  <a:srgbClr val="0F172A"/>
                </a:solidFill>
                <a:latin typeface="Inter"/>
              </a:rPr>
              <a:t>page fault</a:t>
            </a:r>
            <a:r>
              <a:rPr b="0" sz="113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51971" y="2799278"/>
            <a:ext cx="5208508" cy="685680"/>
          </a:xfrm>
          <a:prstGeom prst="roundRect">
            <a:avLst>
              <a:gd name="adj" fmla="val 1111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0225" bIns="70225" lIns="109240" rIns="109240"/>
          <a:lstStyle/>
          <a:p>
            <a:pPr algn="ctr"/>
            <a:r>
              <a:rPr b="1" sz="1170">
                <a:solidFill>
                  <a:srgbClr val="0F172A"/>
                </a:solidFill>
                <a:latin typeface="Inter"/>
              </a:rPr>
              <a:t>Physical RAM (4 KB frames)</a:t>
            </a:r>
            <a:r>
              <a:rPr b="0" sz="1230">
                <a:solidFill>
                  <a:srgbClr val="0F172A"/>
                </a:solidFill>
                <a:latin typeface="Inter"/>
              </a:rPr>
              <a:t> </a:t>
            </a:r>
          </a:p>
        </p:txBody>
      </p:sp>
      <p:pic>
        <p:nvPicPr>
          <p:cNvPr id="18" name="Picture 17" descr="13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8772" y="3138725"/>
            <a:ext cx="4974907" cy="26848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51971" y="3609736"/>
            <a:ext cx="5208508" cy="102965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Aft>
                <a:spcPts val="600"/>
              </a:spcAft>
            </a:pPr>
            <a:r>
              <a:rPr b="0" sz="1230">
                <a:solidFill>
                  <a:srgbClr val="0F172A"/>
                </a:solidFill>
                <a:latin typeface="Inter"/>
              </a:rPr>
              <a:t>•  </a:t>
            </a:r>
            <a:r>
              <a:rPr b="1" sz="1230">
                <a:solidFill>
                  <a:srgbClr val="0F172A"/>
                </a:solidFill>
                <a:latin typeface="Inter"/>
              </a:rPr>
              <a:t>User space:</a:t>
            </a:r>
            <a:r>
              <a:rPr b="0" sz="1230">
                <a:solidFill>
                  <a:srgbClr val="334155"/>
                </a:solidFill>
                <a:latin typeface="Inter"/>
              </a:rPr>
              <a:t> the program's own memory; it can't touch the kernel's</a:t>
            </a:r>
          </a:p>
          <a:p>
            <a:pPr>
              <a:spcAft>
                <a:spcPts val="600"/>
              </a:spcAft>
            </a:pPr>
            <a:r>
              <a:rPr b="0" sz="1230">
                <a:solidFill>
                  <a:srgbClr val="0F172A"/>
                </a:solidFill>
                <a:latin typeface="Inter"/>
              </a:rPr>
              <a:t>•  </a:t>
            </a:r>
            <a:r>
              <a:rPr b="1" sz="1230">
                <a:solidFill>
                  <a:srgbClr val="0F172A"/>
                </a:solidFill>
                <a:latin typeface="Inter"/>
              </a:rPr>
              <a:t>Kernel space:</a:t>
            </a:r>
            <a:r>
              <a:rPr b="0" sz="1230">
                <a:solidFill>
                  <a:srgbClr val="334155"/>
                </a:solidFill>
                <a:latin typeface="Inter"/>
              </a:rPr>
              <a:t> entered through system calls and page faults</a:t>
            </a:r>
          </a:p>
          <a:p>
            <a:pPr>
              <a:spcAft>
                <a:spcPts val="600"/>
              </a:spcAft>
            </a:pPr>
            <a:r>
              <a:rPr b="0" sz="1040">
                <a:solidFill>
                  <a:srgbClr val="0F172A"/>
                </a:solidFill>
                <a:latin typeface="Roboto Mono"/>
              </a:rPr>
              <a:t>•  </a:t>
            </a:r>
            <a:r>
              <a:rPr b="1" sz="1040">
                <a:solidFill>
                  <a:srgbClr val="0F172A"/>
                </a:solidFill>
                <a:latin typeface="Roboto Mono"/>
              </a:rPr>
              <a:t>mmap</a:t>
            </a:r>
            <a:r>
              <a:rPr b="1" sz="1230">
                <a:solidFill>
                  <a:srgbClr val="0F172A"/>
                </a:solidFill>
                <a:latin typeface="Inter"/>
              </a:rPr>
              <a:t> of a file:</a:t>
            </a:r>
            <a:r>
              <a:rPr b="0" sz="1230">
                <a:solidFill>
                  <a:srgbClr val="334155"/>
                </a:solidFill>
                <a:latin typeface="Inter"/>
              </a:rPr>
              <a:t> the user-space range points straight at page-cache frames, with no copy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51996"/>
            <a:ext cx="1235035" cy="186570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010">
                <a:solidFill>
                  <a:srgbClr val="94A3B8"/>
                </a:solidFill>
                <a:latin typeface="Inter"/>
              </a:rPr>
              <a:t>Fast Engine Startup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23758" y="6451996"/>
            <a:ext cx="436721" cy="186570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010">
                <a:solidFill>
                  <a:srgbClr val="94A3B8"/>
                </a:solidFill>
                <a:latin typeface="Inter"/>
              </a:rPr>
              <a:t>14 / 34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33888"/>
            <a:ext cx="10728960" cy="203715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1110">
                <a:solidFill>
                  <a:srgbClr val="2563EB"/>
                </a:solidFill>
                <a:latin typeface="Inter"/>
              </a:rP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35831"/>
            <a:ext cx="10728960" cy="448627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3070">
                <a:solidFill>
                  <a:srgbClr val="0F172A"/>
                </a:solidFill>
                <a:latin typeface="Inter"/>
              </a:rPr>
              <a:t>mmap read, page not cached: major fault</a:t>
            </a:r>
          </a:p>
        </p:txBody>
      </p:sp>
      <p:pic>
        <p:nvPicPr>
          <p:cNvPr id="4" name="Picture 3" descr="14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38061"/>
            <a:ext cx="10728960" cy="38838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599866"/>
            <a:ext cx="10728960" cy="254555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1380">
                <a:solidFill>
                  <a:srgbClr val="0F172A"/>
                </a:solidFill>
                <a:latin typeface="Inter"/>
              </a:rPr>
              <a:t>Major fault:</a:t>
            </a:r>
            <a:r>
              <a:rPr b="0" sz="1380">
                <a:solidFill>
                  <a:srgbClr val="334155"/>
                </a:solidFill>
                <a:latin typeface="Inter"/>
              </a:rPr>
              <a:t> every miss blocks SGLang for a network read; the 30B weights take 62 s this way.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51996"/>
            <a:ext cx="1235035" cy="186570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010">
                <a:solidFill>
                  <a:srgbClr val="94A3B8"/>
                </a:solidFill>
                <a:latin typeface="Inter"/>
              </a:rPr>
              <a:t>Fast Engine Startup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758" y="6451996"/>
            <a:ext cx="436721" cy="186570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010">
                <a:solidFill>
                  <a:srgbClr val="94A3B8"/>
                </a:solidFill>
                <a:latin typeface="Inter"/>
              </a:rPr>
              <a:t>15 / 34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33888"/>
            <a:ext cx="10728960" cy="203715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1110">
                <a:solidFill>
                  <a:srgbClr val="2563EB"/>
                </a:solidFill>
                <a:latin typeface="Inter"/>
              </a:rP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35831"/>
            <a:ext cx="10728960" cy="448627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3070">
                <a:solidFill>
                  <a:srgbClr val="0F172A"/>
                </a:solidFill>
                <a:latin typeface="Inter"/>
              </a:rPr>
              <a:t>mmap read, page cached: minor fault</a:t>
            </a:r>
          </a:p>
        </p:txBody>
      </p:sp>
      <p:pic>
        <p:nvPicPr>
          <p:cNvPr id="4" name="Picture 3" descr="15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38061"/>
            <a:ext cx="10728960" cy="35619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278040"/>
            <a:ext cx="10728960" cy="509111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1380">
                <a:solidFill>
                  <a:srgbClr val="0F172A"/>
                </a:solidFill>
                <a:latin typeface="Inter"/>
              </a:rPr>
              <a:t>Minor fault:</a:t>
            </a:r>
            <a:r>
              <a:rPr b="0" sz="1380">
                <a:solidFill>
                  <a:srgbClr val="334155"/>
                </a:solidFill>
                <a:latin typeface="Inter"/>
              </a:rPr>
              <a:t> no I/O and the volume is never touched. The 30B weights load in 13 s, mostly the copy to the GPU. With prefetch, every fault is a minor 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51996"/>
            <a:ext cx="1235035" cy="186570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010">
                <a:solidFill>
                  <a:srgbClr val="94A3B8"/>
                </a:solidFill>
                <a:latin typeface="Inter"/>
              </a:rPr>
              <a:t>Fast Engine Startup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758" y="6451996"/>
            <a:ext cx="436721" cy="186570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010">
                <a:solidFill>
                  <a:srgbClr val="94A3B8"/>
                </a:solidFill>
                <a:latin typeface="Inter"/>
              </a:rPr>
              <a:t>16 / 34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33888"/>
            <a:ext cx="10728960" cy="203715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1110">
                <a:solidFill>
                  <a:srgbClr val="2563EB"/>
                </a:solidFill>
                <a:latin typeface="Inter"/>
              </a:rPr>
              <a:t>WEIGHTS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35831"/>
            <a:ext cx="10728960" cy="448627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3070">
                <a:solidFill>
                  <a:srgbClr val="0F172A"/>
                </a:solidFill>
                <a:latin typeface="Inter"/>
              </a:rPr>
              <a:t>ModelExpress GPU-to-GPU transfer </a:t>
            </a:r>
            <a:r>
              <a:rPr b="1" sz="1110">
                <a:solidFill>
                  <a:srgbClr val="DC2626"/>
                </a:solidFill>
                <a:latin typeface="Inter"/>
              </a:rPr>
              <a:t>REJECTED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6521"/>
            <a:ext cx="5247441" cy="1498520"/>
          </a:xfrm>
          <a:prstGeom prst="roundRect">
            <a:avLst>
              <a:gd name="adj" fmla="val 610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5564" bIns="175564" lIns="214579" rIns="214579"/>
          <a:lstStyle/>
          <a:p>
            <a:pPr algn="ctr"/>
            <a:r>
              <a:rPr b="1" sz="1200">
                <a:solidFill>
                  <a:srgbClr val="059669"/>
                </a:solidFill>
                <a:latin typeface="Inter"/>
              </a:rPr>
              <a:t>UPSIDE</a:t>
            </a:r>
          </a:p>
          <a:p>
            <a:pPr algn="ctr"/>
          </a:p>
          <a:p>
            <a:pPr algn="ctr"/>
            <a:r>
              <a:rPr b="0" sz="1689">
                <a:solidFill>
                  <a:srgbClr val="334155"/>
                </a:solidFill>
                <a:latin typeface="Inter"/>
              </a:rPr>
              <a:t>Load weights from a running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96521"/>
            <a:ext cx="30480" cy="14985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6550" y="2219920"/>
            <a:ext cx="241339" cy="241339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1520">
                <a:solidFill>
                  <a:srgbClr val="059669"/>
                </a:solidFill>
                <a:latin typeface="Inter"/>
              </a:rPr>
              <a:t>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3038" y="1696521"/>
            <a:ext cx="5247441" cy="1498520"/>
          </a:xfrm>
          <a:prstGeom prst="roundRect">
            <a:avLst>
              <a:gd name="adj" fmla="val 610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5564" bIns="175564" lIns="214579" rIns="214579"/>
          <a:lstStyle/>
          <a:p>
            <a:pPr algn="ctr"/>
            <a:r>
              <a:rPr b="1" sz="1200">
                <a:solidFill>
                  <a:srgbClr val="DC2626"/>
                </a:solidFill>
                <a:latin typeface="Inter"/>
              </a:rPr>
              <a:t>DOWNSIDE</a:t>
            </a:r>
          </a:p>
          <a:p>
            <a:pPr algn="ctr"/>
          </a:p>
          <a:p>
            <a:pPr algn="ctr"/>
            <a:r>
              <a:rPr b="0" sz="1689">
                <a:solidFill>
                  <a:srgbClr val="334155"/>
                </a:solidFill>
                <a:latin typeface="Inter"/>
              </a:rPr>
              <a:t>Transfer backend does not start on Modal</a:t>
            </a:r>
          </a:p>
          <a:p>
            <a:pPr algn="ctr"/>
            <a:r>
              <a:rPr b="0" sz="1689">
                <a:solidFill>
                  <a:srgbClr val="334155"/>
                </a:solidFill>
                <a:latin typeface="Inter"/>
              </a:rPr>
              <a:t>Streaming loader: smaller gain than prefetch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3038" y="1696521"/>
            <a:ext cx="30480" cy="14985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8069" y="2219920"/>
            <a:ext cx="241339" cy="241339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1520">
                <a:solidFill>
                  <a:srgbClr val="DC2626"/>
                </a:solidFill>
                <a:latin typeface="Inter"/>
              </a:rPr>
              <a:t>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58069" y="2627471"/>
            <a:ext cx="241339" cy="241339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1520">
                <a:solidFill>
                  <a:srgbClr val="DC2626"/>
                </a:solidFill>
                <a:latin typeface="Inter"/>
              </a:rPr>
              <a:t>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51996"/>
            <a:ext cx="1235035" cy="186570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010">
                <a:solidFill>
                  <a:srgbClr val="94A3B8"/>
                </a:solidFill>
                <a:latin typeface="Inter"/>
              </a:rPr>
              <a:t>Fast Engine Startup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23758" y="6451996"/>
            <a:ext cx="436721" cy="186570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010">
                <a:solidFill>
                  <a:srgbClr val="94A3B8"/>
                </a:solidFill>
                <a:latin typeface="Inter"/>
              </a:rPr>
              <a:t>17 / 34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33888"/>
            <a:ext cx="10728960" cy="203715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1110">
                <a:solidFill>
                  <a:srgbClr val="2563EB"/>
                </a:solidFill>
                <a:latin typeface="Inter"/>
              </a:rPr>
              <a:t>CUDA GRAPHS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35831"/>
            <a:ext cx="10728960" cy="448627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3070">
                <a:solidFill>
                  <a:srgbClr val="0F172A"/>
                </a:solidFill>
                <a:latin typeface="Inter"/>
              </a:rPr>
              <a:t>CUDA graphs: power-of-two sizes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32227"/>
            <a:ext cx="10728960" cy="310991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689">
                <a:solidFill>
                  <a:srgbClr val="334155"/>
                </a:solidFill>
                <a:latin typeface="Inter"/>
              </a:rPr>
              <a:t>Capture only power-of-two batch sizes. Other batches pad up to the next size.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00632"/>
            <a:ext cx="5374600" cy="220622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1200">
                <a:solidFill>
                  <a:srgbClr val="059669"/>
                </a:solidFill>
                <a:latin typeface="Inter"/>
              </a:rPr>
              <a:t>PROS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09004"/>
            <a:ext cx="5374600" cy="653295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Aft>
                <a:spcPts val="600"/>
              </a:spcAft>
            </a:pPr>
            <a:r>
              <a:rPr b="0" sz="1540">
                <a:solidFill>
                  <a:srgbClr val="334155"/>
                </a:solidFill>
                <a:latin typeface="Inter"/>
              </a:rPr>
              <a:t>•  </a:t>
            </a:r>
            <a:r>
              <a:rPr b="0" sz="1540">
                <a:solidFill>
                  <a:srgbClr val="334155"/>
                </a:solidFill>
                <a:latin typeface="Inter"/>
              </a:rPr>
              <a:t>Faster SGLang init: graph capture 27 → 9.6 s</a:t>
            </a:r>
          </a:p>
          <a:p>
            <a:pPr>
              <a:spcAft>
                <a:spcPts val="600"/>
              </a:spcAft>
            </a:pPr>
            <a:r>
              <a:rPr b="0" sz="1540">
                <a:solidFill>
                  <a:srgbClr val="334155"/>
                </a:solidFill>
                <a:latin typeface="Inter"/>
              </a:rPr>
              <a:t>•  </a:t>
            </a:r>
            <a:r>
              <a:rPr b="0" sz="1540">
                <a:solidFill>
                  <a:srgbClr val="334155"/>
                </a:solidFill>
                <a:latin typeface="Inter"/>
              </a:rPr>
              <a:t>Less graph memory: 1.69 → 1.18 GB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14342"/>
            <a:ext cx="5374600" cy="220622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1200">
                <a:solidFill>
                  <a:srgbClr val="DC2626"/>
                </a:solidFill>
                <a:latin typeface="Inter"/>
              </a:rPr>
              <a:t>CONS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22714"/>
            <a:ext cx="5374600" cy="130659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Aft>
                <a:spcPts val="600"/>
              </a:spcAft>
            </a:pPr>
            <a:r>
              <a:rPr b="0" sz="1540">
                <a:solidFill>
                  <a:srgbClr val="334155"/>
                </a:solidFill>
                <a:latin typeface="Inter"/>
              </a:rPr>
              <a:t>•  </a:t>
            </a:r>
            <a:r>
              <a:rPr b="0" sz="1540">
                <a:solidFill>
                  <a:srgbClr val="334155"/>
                </a:solidFill>
                <a:latin typeface="Inter"/>
              </a:rPr>
              <a:t>Lower throughput: ~2%</a:t>
            </a:r>
          </a:p>
          <a:p>
            <a:pPr>
              <a:spcAft>
                <a:spcPts val="600"/>
              </a:spcAft>
            </a:pPr>
            <a:r>
              <a:rPr b="0" sz="1540">
                <a:solidFill>
                  <a:srgbClr val="334155"/>
                </a:solidFill>
                <a:latin typeface="Inter"/>
              </a:rPr>
              <a:t>•  </a:t>
            </a:r>
            <a:r>
              <a:rPr b="0" sz="1540">
                <a:solidFill>
                  <a:srgbClr val="334155"/>
                </a:solidFill>
                <a:latin typeface="Inter"/>
              </a:rPr>
              <a:t>Higher latency: +0.05 ms per token</a:t>
            </a:r>
          </a:p>
          <a:p>
            <a:pPr>
              <a:spcAft>
                <a:spcPts val="600"/>
              </a:spcAft>
            </a:pPr>
            <a:r>
              <a:rPr b="0" sz="1540">
                <a:solidFill>
                  <a:srgbClr val="334155"/>
                </a:solidFill>
                <a:latin typeface="Inter"/>
              </a:rPr>
              <a:t>•  </a:t>
            </a:r>
            <a:r>
              <a:rPr b="0" sz="1540">
                <a:solidFill>
                  <a:srgbClr val="334155"/>
                </a:solidFill>
                <a:latin typeface="Inter"/>
              </a:rPr>
              <a:t>Wastes GPU resources on padding: up to 2× (129 requests run as 256)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74274" y="2200632"/>
          <a:ext cx="4886205" cy="17951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28735"/>
                <a:gridCol w="1628735"/>
                <a:gridCol w="1628735"/>
              </a:tblGrid>
              <a:tr h="448776">
                <a:tc>
                  <a:txBody>
                    <a:bodyPr wrap="square"/>
                    <a:lstStyle/>
                    <a:p/>
                  </a:txBody>
                  <a:tcPr marL="60960" marR="60960" marT="30480" marB="3048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64748B"/>
                          </a:solidFill>
                          <a:latin typeface="Inter"/>
                        </a:rPr>
                        <a:t>ORIGINAL</a:t>
                      </a:r>
                    </a:p>
                  </a:txBody>
                  <a:tcPr marL="60960" marR="60960" marT="30480" marB="3048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64748B"/>
                          </a:solidFill>
                          <a:latin typeface="Inter"/>
                        </a:rPr>
                        <a:t>POW2</a:t>
                      </a:r>
                    </a:p>
                  </a:txBody>
                  <a:tcPr marL="60960" marR="60960" marT="30480" marB="30480">
                    <a:noFill/>
                  </a:tcPr>
                </a:tc>
              </a:tr>
              <a:tr h="448776">
                <a:tc>
                  <a:txBody>
                    <a:bodyPr wrap="square"/>
                    <a:lstStyle/>
                    <a:p>
                      <a:r>
                        <a:rPr b="1" sz="1410">
                          <a:solidFill>
                            <a:srgbClr val="0F172A"/>
                          </a:solidFill>
                          <a:latin typeface="Inter"/>
                        </a:rPr>
                        <a:t>Decode</a:t>
                      </a:r>
                    </a:p>
                  </a:txBody>
                  <a:tcPr marL="60960" marR="60960" marT="30480" marB="3048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10">
                          <a:solidFill>
                            <a:srgbClr val="334155"/>
                          </a:solidFill>
                          <a:latin typeface="Inter"/>
                        </a:rPr>
                        <a:t>36</a:t>
                      </a:r>
                    </a:p>
                  </a:txBody>
                  <a:tcPr marL="60960" marR="60960" marT="30480" marB="3048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10">
                          <a:solidFill>
                            <a:srgbClr val="334155"/>
                          </a:solidFill>
                          <a:latin typeface="Inter"/>
                        </a:rPr>
                        <a:t>9</a:t>
                      </a:r>
                    </a:p>
                  </a:txBody>
                  <a:tcPr marL="60960" marR="60960" marT="30480" marB="30480">
                    <a:noFill/>
                  </a:tcPr>
                </a:tc>
              </a:tr>
              <a:tr h="448776">
                <a:tc>
                  <a:txBody>
                    <a:bodyPr wrap="square"/>
                    <a:lstStyle/>
                    <a:p>
                      <a:r>
                        <a:rPr b="1" sz="1410">
                          <a:solidFill>
                            <a:srgbClr val="0F172A"/>
                          </a:solidFill>
                          <a:latin typeface="Inter"/>
                        </a:rPr>
                        <a:t>Prefill</a:t>
                      </a:r>
                    </a:p>
                  </a:txBody>
                  <a:tcPr marL="60960" marR="60960" marT="30480" marB="3048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10">
                          <a:solidFill>
                            <a:srgbClr val="334155"/>
                          </a:solidFill>
                          <a:latin typeface="Inter"/>
                        </a:rPr>
                        <a:t>58</a:t>
                      </a:r>
                    </a:p>
                  </a:txBody>
                  <a:tcPr marL="60960" marR="60960" marT="30480" marB="3048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10">
                          <a:solidFill>
                            <a:srgbClr val="334155"/>
                          </a:solidFill>
                          <a:latin typeface="Inter"/>
                        </a:rPr>
                        <a:t>12</a:t>
                      </a:r>
                    </a:p>
                  </a:txBody>
                  <a:tcPr marL="60960" marR="60960" marT="30480" marB="30480">
                    <a:noFill/>
                  </a:tcPr>
                </a:tc>
              </a:tr>
              <a:tr h="448777">
                <a:tc>
                  <a:txBody>
                    <a:bodyPr wrap="square"/>
                    <a:lstStyle/>
                    <a:p>
                      <a:r>
                        <a:rPr b="1" sz="1410">
                          <a:solidFill>
                            <a:srgbClr val="0F172A"/>
                          </a:solidFill>
                          <a:latin typeface="Inter"/>
                        </a:rPr>
                        <a:t>Total</a:t>
                      </a:r>
                    </a:p>
                  </a:txBody>
                  <a:tcPr marL="60960" marR="60960" marT="30480" marB="3048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10">
                          <a:solidFill>
                            <a:srgbClr val="334155"/>
                          </a:solidFill>
                          <a:latin typeface="Inter"/>
                        </a:rPr>
                        <a:t>94</a:t>
                      </a:r>
                    </a:p>
                  </a:txBody>
                  <a:tcPr marL="60960" marR="60960" marT="30480" marB="3048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10">
                          <a:solidFill>
                            <a:srgbClr val="334155"/>
                          </a:solidFill>
                          <a:latin typeface="Inter"/>
                        </a:rPr>
                        <a:t>21</a:t>
                      </a:r>
                    </a:p>
                  </a:txBody>
                  <a:tcPr marL="60960" marR="60960" marT="30480" marB="30480">
                    <a:noFill/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6451996"/>
            <a:ext cx="1235035" cy="186570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010">
                <a:solidFill>
                  <a:srgbClr val="94A3B8"/>
                </a:solidFill>
                <a:latin typeface="Inter"/>
              </a:rPr>
              <a:t>Fast Engine Startup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23758" y="6451996"/>
            <a:ext cx="436721" cy="186570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010">
                <a:solidFill>
                  <a:srgbClr val="94A3B8"/>
                </a:solidFill>
                <a:latin typeface="Inter"/>
              </a:rPr>
              <a:t>18 / 34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33888"/>
            <a:ext cx="10728960" cy="203715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1110">
                <a:solidFill>
                  <a:srgbClr val="2563EB"/>
                </a:solidFill>
                <a:latin typeface="Inter"/>
              </a:rPr>
              <a:t>CUDA GRAPHS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35831"/>
            <a:ext cx="10728960" cy="448627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3070">
                <a:solidFill>
                  <a:srgbClr val="0F172A"/>
                </a:solidFill>
                <a:latin typeface="Inter"/>
              </a:rPr>
              <a:t>Why power-of-two graphs work here</a:t>
            </a:r>
          </a:p>
        </p:txBody>
      </p:sp>
      <p:pic>
        <p:nvPicPr>
          <p:cNvPr id="4" name="Picture 3" descr="18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6521"/>
            <a:ext cx="10728960" cy="17002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3630810"/>
            <a:ext cx="10728960" cy="220622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1200">
                <a:solidFill>
                  <a:srgbClr val="64748B"/>
                </a:solidFill>
                <a:latin typeface="Inter"/>
              </a:rPr>
              <a:t>PADDING IS CHEAP HERE: HOW WE MEASURED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3912274"/>
          <a:ext cx="10728960" cy="13120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2240"/>
                <a:gridCol w="2682240"/>
                <a:gridCol w="2682240"/>
                <a:gridCol w="2682240"/>
              </a:tblGrid>
              <a:tr h="437356"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64748B"/>
                          </a:solidFill>
                          <a:latin typeface="Inter"/>
                        </a:rPr>
                        <a:t>METRIC</a:t>
                      </a:r>
                    </a:p>
                  </a:txBody>
                  <a:tcPr marL="60960" marR="60960" marT="30480" marB="3048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64748B"/>
                          </a:solidFill>
                          <a:latin typeface="Inter"/>
                        </a:rPr>
                        <a:t>LOAD ON THE FRESH ENGINE</a:t>
                      </a:r>
                    </a:p>
                  </a:txBody>
                  <a:tcPr marL="60960" marR="60960" marT="30480" marB="3048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64748B"/>
                          </a:solidFill>
                          <a:latin typeface="Inter"/>
                        </a:rPr>
                        <a:t>FULL</a:t>
                      </a:r>
                    </a:p>
                  </a:txBody>
                  <a:tcPr marL="60960" marR="60960" marT="30480" marB="3048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64748B"/>
                          </a:solidFill>
                          <a:latin typeface="Inter"/>
                        </a:rPr>
                        <a:t>POW2</a:t>
                      </a:r>
                    </a:p>
                  </a:txBody>
                  <a:tcPr marL="60960" marR="60960" marT="30480" marB="30480">
                    <a:noFill/>
                  </a:tcPr>
                </a:tc>
              </a:tr>
              <a:tr h="437356">
                <a:tc>
                  <a:txBody>
                    <a:bodyPr wrap="square"/>
                    <a:lstStyle/>
                    <a:p>
                      <a:r>
                        <a:rPr b="1" sz="1410">
                          <a:solidFill>
                            <a:srgbClr val="0F172A"/>
                          </a:solidFill>
                          <a:latin typeface="Inter"/>
                        </a:rPr>
                        <a:t>Throughput</a:t>
                      </a:r>
                    </a:p>
                  </a:txBody>
                  <a:tcPr marL="60960" marR="60960" marT="30480" marB="3048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10">
                          <a:solidFill>
                            <a:srgbClr val="334155"/>
                          </a:solidFill>
                          <a:latin typeface="Inter"/>
                        </a:rPr>
                        <a:t>128 requests, 32 at a time</a:t>
                      </a:r>
                    </a:p>
                  </a:txBody>
                  <a:tcPr marL="60960" marR="60960" marT="30480" marB="3048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10">
                          <a:solidFill>
                            <a:srgbClr val="334155"/>
                          </a:solidFill>
                          <a:latin typeface="Inter"/>
                        </a:rPr>
                        <a:t>4,645 tok/s</a:t>
                      </a:r>
                    </a:p>
                  </a:txBody>
                  <a:tcPr marL="60960" marR="60960" marT="30480" marB="3048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10">
                          <a:solidFill>
                            <a:srgbClr val="334155"/>
                          </a:solidFill>
                          <a:latin typeface="Inter"/>
                        </a:rPr>
                        <a:t>4,547 tok/s (−2.1%)</a:t>
                      </a:r>
                    </a:p>
                  </a:txBody>
                  <a:tcPr marL="60960" marR="60960" marT="30480" marB="30480">
                    <a:noFill/>
                  </a:tcPr>
                </a:tc>
              </a:tr>
              <a:tr h="437356">
                <a:tc>
                  <a:txBody>
                    <a:bodyPr wrap="square"/>
                    <a:lstStyle/>
                    <a:p>
                      <a:r>
                        <a:rPr b="1" sz="1410">
                          <a:solidFill>
                            <a:srgbClr val="0F172A"/>
                          </a:solidFill>
                          <a:latin typeface="Inter"/>
                        </a:rPr>
                        <a:t>Latency per token</a:t>
                      </a:r>
                    </a:p>
                  </a:txBody>
                  <a:tcPr marL="60960" marR="60960" marT="30480" marB="3048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10">
                          <a:solidFill>
                            <a:srgbClr val="334155"/>
                          </a:solidFill>
                          <a:latin typeface="Inter"/>
                        </a:rPr>
                        <a:t>16 requests, one at a time</a:t>
                      </a:r>
                    </a:p>
                  </a:txBody>
                  <a:tcPr marL="60960" marR="60960" marT="30480" marB="3048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10">
                          <a:solidFill>
                            <a:srgbClr val="334155"/>
                          </a:solidFill>
                          <a:latin typeface="Inter"/>
                        </a:rPr>
                        <a:t>3.45 ms</a:t>
                      </a:r>
                    </a:p>
                  </a:txBody>
                  <a:tcPr marL="60960" marR="60960" marT="30480" marB="3048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10">
                          <a:solidFill>
                            <a:srgbClr val="334155"/>
                          </a:solidFill>
                          <a:latin typeface="Inter"/>
                        </a:rPr>
                        <a:t>3.50 ms (+0.05)</a:t>
                      </a:r>
                    </a:p>
                  </a:txBody>
                  <a:tcPr marL="60960" marR="60960" marT="30480" marB="30480"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384244"/>
            <a:ext cx="10728960" cy="231814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260">
                <a:solidFill>
                  <a:srgbClr val="64748B"/>
                </a:solidFill>
                <a:latin typeface="Inter"/>
              </a:rPr>
              <a:t>800-word prompt, 256 output tokens. Latency = time between output tokens (median). Mean of 2 cold-start trials each.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51996"/>
            <a:ext cx="1235035" cy="186570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010">
                <a:solidFill>
                  <a:srgbClr val="94A3B8"/>
                </a:solidFill>
                <a:latin typeface="Inter"/>
              </a:rPr>
              <a:t>Fast Engine Startup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23758" y="6451996"/>
            <a:ext cx="436721" cy="186570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010">
                <a:solidFill>
                  <a:srgbClr val="94A3B8"/>
                </a:solidFill>
                <a:latin typeface="Inter"/>
              </a:rPr>
              <a:t>19 / 34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33888"/>
            <a:ext cx="10728960" cy="203715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1110">
                <a:solidFill>
                  <a:srgbClr val="2563EB"/>
                </a:solidFill>
                <a:latin typeface="Inter"/>
              </a:rPr>
              <a:t>CUDA GRAPHS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35831"/>
            <a:ext cx="10728960" cy="448627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3070">
                <a:solidFill>
                  <a:srgbClr val="0F172A"/>
                </a:solidFill>
                <a:latin typeface="Inter"/>
              </a:rPr>
              <a:t>Disable CUDA graphs </a:t>
            </a:r>
            <a:r>
              <a:rPr b="1" sz="1110">
                <a:solidFill>
                  <a:srgbClr val="DC2626"/>
                </a:solidFill>
                <a:latin typeface="Inter"/>
              </a:rPr>
              <a:t>REJECTED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6521"/>
            <a:ext cx="5247441" cy="1498520"/>
          </a:xfrm>
          <a:prstGeom prst="roundRect">
            <a:avLst>
              <a:gd name="adj" fmla="val 610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5564" bIns="175564" lIns="214579" rIns="214579"/>
          <a:lstStyle/>
          <a:p>
            <a:pPr algn="ctr"/>
            <a:r>
              <a:rPr b="1" sz="1200">
                <a:solidFill>
                  <a:srgbClr val="059669"/>
                </a:solidFill>
                <a:latin typeface="Inter"/>
              </a:rPr>
              <a:t>UPSIDE</a:t>
            </a:r>
          </a:p>
          <a:p>
            <a:pPr algn="ctr"/>
          </a:p>
          <a:p>
            <a:pPr algn="ctr"/>
            <a:r>
              <a:rPr b="0" sz="1689">
                <a:solidFill>
                  <a:srgbClr val="334155"/>
                </a:solidFill>
                <a:latin typeface="Inter"/>
              </a:rPr>
              <a:t>~27 s faster startup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96521"/>
            <a:ext cx="30480" cy="14985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6550" y="2219920"/>
            <a:ext cx="241339" cy="241339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1520">
                <a:solidFill>
                  <a:srgbClr val="059669"/>
                </a:solidFill>
                <a:latin typeface="Inter"/>
              </a:rPr>
              <a:t>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3038" y="1696521"/>
            <a:ext cx="5247441" cy="1498520"/>
          </a:xfrm>
          <a:prstGeom prst="roundRect">
            <a:avLst>
              <a:gd name="adj" fmla="val 610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5564" bIns="175564" lIns="214579" rIns="214579"/>
          <a:lstStyle/>
          <a:p>
            <a:pPr algn="ctr"/>
            <a:r>
              <a:rPr b="1" sz="1200">
                <a:solidFill>
                  <a:srgbClr val="DC2626"/>
                </a:solidFill>
                <a:latin typeface="Inter"/>
              </a:rPr>
              <a:t>DOWNSIDE</a:t>
            </a:r>
          </a:p>
          <a:p>
            <a:pPr algn="ctr"/>
          </a:p>
          <a:p>
            <a:pPr algn="ctr"/>
            <a:r>
              <a:rPr b="0" sz="1689">
                <a:solidFill>
                  <a:srgbClr val="334155"/>
                </a:solidFill>
                <a:latin typeface="Inter"/>
              </a:rPr>
              <a:t>10–19× lower throughput</a:t>
            </a:r>
          </a:p>
          <a:p>
            <a:pPr algn="ctr"/>
            <a:r>
              <a:rPr b="0" sz="1689">
                <a:solidFill>
                  <a:srgbClr val="334155"/>
                </a:solidFill>
                <a:latin typeface="Inter"/>
              </a:rPr>
              <a:t>Latency 3.5 → 64.5 ms per token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3038" y="1696521"/>
            <a:ext cx="30480" cy="14985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8069" y="2219920"/>
            <a:ext cx="241339" cy="241339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1520">
                <a:solidFill>
                  <a:srgbClr val="DC2626"/>
                </a:solidFill>
                <a:latin typeface="Inter"/>
              </a:rPr>
              <a:t>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58069" y="2627471"/>
            <a:ext cx="241339" cy="241339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1520">
                <a:solidFill>
                  <a:srgbClr val="DC2626"/>
                </a:solidFill>
                <a:latin typeface="Inter"/>
              </a:rPr>
              <a:t>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81744"/>
            <a:ext cx="10728960" cy="296941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1130">
                <a:solidFill>
                  <a:srgbClr val="64748B"/>
                </a:solidFill>
                <a:latin typeface="Inter"/>
              </a:rPr>
              <a:t>DECISION</a:t>
            </a:r>
            <a:r>
              <a:rPr b="0" sz="1610">
                <a:solidFill>
                  <a:srgbClr val="334155"/>
                </a:solidFill>
                <a:latin typeface="Inter"/>
              </a:rPr>
              <a:t>Serving cost is far higher than the startup gain.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51996"/>
            <a:ext cx="1235035" cy="186570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010">
                <a:solidFill>
                  <a:srgbClr val="94A3B8"/>
                </a:solidFill>
                <a:latin typeface="Inter"/>
              </a:rPr>
              <a:t>Fast Engine Startup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23758" y="6451996"/>
            <a:ext cx="436721" cy="186570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010">
                <a:solidFill>
                  <a:srgbClr val="94A3B8"/>
                </a:solidFill>
                <a:latin typeface="Inter"/>
              </a:rPr>
              <a:t>20 / 34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33888"/>
            <a:ext cx="10728960" cy="203715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1110">
                <a:solidFill>
                  <a:srgbClr val="2563EB"/>
                </a:solidFill>
                <a:latin typeface="Inter"/>
              </a:rPr>
              <a:t>PYTHON IMPORTS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35831"/>
            <a:ext cx="10728960" cy="448627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3070">
                <a:solidFill>
                  <a:srgbClr val="0F172A"/>
                </a:solidFill>
                <a:latin typeface="Inter"/>
              </a:rPr>
              <a:t>Python imports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32227"/>
            <a:ext cx="10728960" cy="310991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689">
                <a:solidFill>
                  <a:srgbClr val="334155"/>
                </a:solidFill>
                <a:latin typeface="Inter"/>
              </a:rPr>
              <a:t>Imports are single-threaded and repeated by every worker process.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00632"/>
            <a:ext cx="5374600" cy="220622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1200">
                <a:solidFill>
                  <a:srgbClr val="059669"/>
                </a:solidFill>
                <a:latin typeface="Inter"/>
              </a:rPr>
              <a:t>PROS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09004"/>
            <a:ext cx="5374600" cy="653295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Aft>
                <a:spcPts val="600"/>
              </a:spcAft>
            </a:pPr>
            <a:r>
              <a:rPr b="0" sz="1540">
                <a:solidFill>
                  <a:srgbClr val="334155"/>
                </a:solidFill>
                <a:latin typeface="Inter"/>
              </a:rPr>
              <a:t>•  </a:t>
            </a:r>
            <a:r>
              <a:rPr b="0" sz="1540">
                <a:solidFill>
                  <a:srgbClr val="334155"/>
                </a:solidFill>
                <a:latin typeface="Inter"/>
              </a:rPr>
              <a:t>Precompiled bytecode: ~7 s</a:t>
            </a:r>
          </a:p>
          <a:p>
            <a:pPr>
              <a:spcAft>
                <a:spcPts val="600"/>
              </a:spcAft>
            </a:pPr>
            <a:r>
              <a:rPr b="0" sz="1540">
                <a:solidFill>
                  <a:srgbClr val="334155"/>
                </a:solidFill>
                <a:latin typeface="Inter"/>
              </a:rPr>
              <a:t>•  </a:t>
            </a:r>
            <a:r>
              <a:rPr b="0" sz="1540">
                <a:solidFill>
                  <a:srgbClr val="334155"/>
                </a:solidFill>
                <a:latin typeface="Inter"/>
              </a:rPr>
              <a:t>Import file prefetch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14342"/>
            <a:ext cx="5374600" cy="220622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1200">
                <a:solidFill>
                  <a:srgbClr val="DC2626"/>
                </a:solidFill>
                <a:latin typeface="Inter"/>
              </a:rPr>
              <a:t>CONS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22714"/>
            <a:ext cx="5374600" cy="282773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Aft>
                <a:spcPts val="600"/>
              </a:spcAft>
            </a:pPr>
            <a:r>
              <a:rPr b="0" sz="1540">
                <a:solidFill>
                  <a:srgbClr val="334155"/>
                </a:solidFill>
                <a:latin typeface="Inter"/>
              </a:rPr>
              <a:t>•  </a:t>
            </a:r>
            <a:r>
              <a:rPr b="0" sz="1540">
                <a:solidFill>
                  <a:srgbClr val="334155"/>
                </a:solidFill>
                <a:latin typeface="Inter"/>
              </a:rPr>
              <a:t>Still ~48 s: the largest remaining phase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51996"/>
            <a:ext cx="1235035" cy="186570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010">
                <a:solidFill>
                  <a:srgbClr val="94A3B8"/>
                </a:solidFill>
                <a:latin typeface="Inter"/>
              </a:rPr>
              <a:t>Fast Engine Startup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23758" y="6451996"/>
            <a:ext cx="436721" cy="186570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010">
                <a:solidFill>
                  <a:srgbClr val="94A3B8"/>
                </a:solidFill>
                <a:latin typeface="Inter"/>
              </a:rPr>
              <a:t>21 / 34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33888"/>
            <a:ext cx="10728960" cy="203715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1110">
                <a:solidFill>
                  <a:srgbClr val="2563EB"/>
                </a:solidFill>
                <a:latin typeface="Inter"/>
              </a:rPr>
              <a:t>PYTHON IMPORTS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35831"/>
            <a:ext cx="10728960" cy="448627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3070">
                <a:solidFill>
                  <a:srgbClr val="0F172A"/>
                </a:solidFill>
                <a:latin typeface="Inter"/>
              </a:rPr>
              <a:t>How precompiled bytecode shortens init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54210"/>
            <a:ext cx="975360" cy="203715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1110">
                <a:solidFill>
                  <a:srgbClr val="DC2626"/>
                </a:solidFill>
                <a:latin typeface="Inter"/>
              </a:rPr>
              <a:t>BEFORE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45813" y="1774507"/>
            <a:ext cx="1950958" cy="1163121"/>
          </a:xfrm>
          <a:prstGeom prst="roundRect">
            <a:avLst>
              <a:gd name="adj" fmla="val 655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87782" bIns="87782" lIns="140451" rIns="140451"/>
          <a:lstStyle/>
          <a:p>
            <a:pPr algn="ctr"/>
            <a:r>
              <a:rPr b="1" sz="1380">
                <a:solidFill>
                  <a:srgbClr val="0F172A"/>
                </a:solidFill>
                <a:latin typeface="Inter"/>
              </a:rPr>
              <a:t>import a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35705" y="1774507"/>
            <a:ext cx="390048" cy="1163121"/>
          </a:xfrm>
          <a:prstGeom prst="rect">
            <a:avLst/>
          </a:prstGeom>
          <a:noFill/>
        </p:spPr>
        <p:txBody>
          <a:bodyPr wrap="square" tIns="0" bIns="0" lIns="0" rIns="0" anchor="ctr"/>
          <a:lstStyle/>
          <a:p>
            <a:pPr algn="ctr"/>
            <a:r>
              <a:rPr b="0" sz="1839">
                <a:solidFill>
                  <a:srgbClr val="94A3B8"/>
                </a:solidFill>
                <a:latin typeface="Inter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4687" y="1774507"/>
            <a:ext cx="1950958" cy="1163121"/>
          </a:xfrm>
          <a:prstGeom prst="roundRect">
            <a:avLst>
              <a:gd name="adj" fmla="val 6551"/>
            </a:avLst>
          </a:prstGeom>
          <a:solidFill>
            <a:srgbClr val="FEF2F2"/>
          </a:solidFill>
          <a:ln w="9525">
            <a:solidFill>
              <a:srgbClr val="F5B4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87782" bIns="87782" lIns="140451" rIns="140451"/>
          <a:lstStyle/>
          <a:p>
            <a:pPr algn="ctr"/>
            <a:r>
              <a:rPr b="1" sz="1380">
                <a:solidFill>
                  <a:srgbClr val="0F172A"/>
                </a:solidFill>
                <a:latin typeface="Inter"/>
              </a:rPr>
              <a:t>no .pyc: read, parse and compile the source</a:t>
            </a:r>
          </a:p>
          <a:p>
            <a:pPr algn="ctr"/>
            <a:r>
              <a:rPr b="0" sz="1130">
                <a:solidFill>
                  <a:srgbClr val="64748B"/>
                </a:solidFill>
                <a:latin typeface="Inter"/>
              </a:rPr>
              <a:t>CPU, single-threaded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54578" y="1774507"/>
            <a:ext cx="390048" cy="1163121"/>
          </a:xfrm>
          <a:prstGeom prst="rect">
            <a:avLst/>
          </a:prstGeom>
          <a:noFill/>
        </p:spPr>
        <p:txBody>
          <a:bodyPr wrap="square" tIns="0" bIns="0" lIns="0" rIns="0" anchor="ctr"/>
          <a:lstStyle/>
          <a:p>
            <a:pPr algn="ctr"/>
            <a:r>
              <a:rPr b="0" sz="1839">
                <a:solidFill>
                  <a:srgbClr val="94A3B8"/>
                </a:solidFill>
                <a:latin typeface="Inter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560" y="1774507"/>
            <a:ext cx="1950958" cy="1163121"/>
          </a:xfrm>
          <a:prstGeom prst="roundRect">
            <a:avLst>
              <a:gd name="adj" fmla="val 655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87782" bIns="87782" lIns="140451" rIns="140451"/>
          <a:lstStyle/>
          <a:p>
            <a:pPr algn="ctr"/>
            <a:r>
              <a:rPr b="1" sz="1380">
                <a:solidFill>
                  <a:srgbClr val="0F172A"/>
                </a:solidFill>
                <a:latin typeface="Inter"/>
              </a:rPr>
              <a:t>run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20189"/>
            <a:ext cx="975360" cy="203715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1110">
                <a:solidFill>
                  <a:srgbClr val="059669"/>
                </a:solidFill>
                <a:latin typeface="Inter"/>
              </a:rPr>
              <a:t>NOW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45813" y="3044904"/>
            <a:ext cx="1950958" cy="954405"/>
          </a:xfrm>
          <a:prstGeom prst="roundRect">
            <a:avLst>
              <a:gd name="adj" fmla="val 798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87782" bIns="87782" lIns="140451" rIns="140451"/>
          <a:lstStyle/>
          <a:p>
            <a:pPr algn="ctr"/>
            <a:r>
              <a:rPr b="1" sz="1380">
                <a:solidFill>
                  <a:srgbClr val="0F172A"/>
                </a:solidFill>
                <a:latin typeface="Inter"/>
              </a:rPr>
              <a:t>import a module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5705" y="3044904"/>
            <a:ext cx="390048" cy="954405"/>
          </a:xfrm>
          <a:prstGeom prst="rect">
            <a:avLst/>
          </a:prstGeom>
          <a:noFill/>
        </p:spPr>
        <p:txBody>
          <a:bodyPr wrap="square" tIns="0" bIns="0" lIns="0" rIns="0" anchor="ctr"/>
          <a:lstStyle/>
          <a:p>
            <a:pPr algn="ctr"/>
            <a:r>
              <a:rPr b="0" sz="1839">
                <a:solidFill>
                  <a:srgbClr val="94A3B8"/>
                </a:solidFill>
                <a:latin typeface="Inter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4687" y="3044904"/>
            <a:ext cx="1950958" cy="954405"/>
          </a:xfrm>
          <a:prstGeom prst="roundRect">
            <a:avLst>
              <a:gd name="adj" fmla="val 7984"/>
            </a:avLst>
          </a:prstGeom>
          <a:solidFill>
            <a:srgbClr val="ECFDF5"/>
          </a:solidFill>
          <a:ln w="9525">
            <a:solidFill>
              <a:srgbClr val="9FDC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87782" bIns="87782" lIns="140451" rIns="140451"/>
          <a:lstStyle/>
          <a:p>
            <a:pPr algn="ctr"/>
            <a:r>
              <a:rPr b="1" sz="1380">
                <a:solidFill>
                  <a:srgbClr val="0F172A"/>
                </a:solidFill>
                <a:latin typeface="Inter"/>
              </a:rPr>
              <a:t>.pyc already in the image: load the bytecode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4578" y="3044904"/>
            <a:ext cx="390048" cy="954405"/>
          </a:xfrm>
          <a:prstGeom prst="rect">
            <a:avLst/>
          </a:prstGeom>
          <a:noFill/>
        </p:spPr>
        <p:txBody>
          <a:bodyPr wrap="square" tIns="0" bIns="0" lIns="0" rIns="0" anchor="ctr"/>
          <a:lstStyle/>
          <a:p>
            <a:pPr algn="ctr"/>
            <a:r>
              <a:rPr b="0" sz="1839">
                <a:solidFill>
                  <a:srgbClr val="94A3B8"/>
                </a:solidFill>
                <a:latin typeface="Inter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560" y="3044904"/>
            <a:ext cx="1950958" cy="954405"/>
          </a:xfrm>
          <a:prstGeom prst="roundRect">
            <a:avLst>
              <a:gd name="adj" fmla="val 798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87782" bIns="87782" lIns="140451" rIns="140451"/>
          <a:lstStyle/>
          <a:p>
            <a:pPr algn="ctr"/>
            <a:r>
              <a:rPr b="1" sz="1380">
                <a:solidFill>
                  <a:srgbClr val="0F172A"/>
                </a:solidFill>
                <a:latin typeface="Inter"/>
              </a:rPr>
              <a:t>run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95199" y="4170521"/>
            <a:ext cx="6939319" cy="463629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260">
                <a:solidFill>
                  <a:srgbClr val="64748B"/>
                </a:solidFill>
                <a:latin typeface="Inter"/>
              </a:rPr>
              <a:t>SGLang imports ~3,900 modules. A fresh container has no .pyc files, so every cold start compiled all of them.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24567" y="1696521"/>
            <a:ext cx="2535912" cy="220622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1200">
                <a:solidFill>
                  <a:srgbClr val="64748B"/>
                </a:solidFill>
                <a:latin typeface="Inter"/>
              </a:rPr>
              <a:t>ENGINE IMAGE LAYERS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24567" y="1985605"/>
            <a:ext cx="2535912" cy="350520"/>
          </a:xfrm>
          <a:prstGeom prst="roundRect">
            <a:avLst>
              <a:gd name="adj" fmla="val 15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620" bIns="54620" lIns="109240" rIns="109240"/>
          <a:lstStyle/>
          <a:p>
            <a:pPr algn="ctr"/>
            <a:r>
              <a:rPr b="0" sz="1230">
                <a:solidFill>
                  <a:srgbClr val="334155"/>
                </a:solidFill>
                <a:latin typeface="Inter"/>
              </a:rPr>
              <a:t>SGLang base image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24567" y="2358985"/>
            <a:ext cx="2535912" cy="350520"/>
          </a:xfrm>
          <a:prstGeom prst="roundRect">
            <a:avLst>
              <a:gd name="adj" fmla="val 15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620" bIns="54620" lIns="109240" rIns="109240"/>
          <a:lstStyle/>
          <a:p>
            <a:pPr algn="ctr"/>
            <a:r>
              <a:rPr b="0" sz="1230">
                <a:solidFill>
                  <a:srgbClr val="334155"/>
                </a:solidFill>
                <a:latin typeface="Inter"/>
              </a:rPr>
              <a:t>lazy-import patch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67" y="2732365"/>
            <a:ext cx="2535912" cy="536019"/>
          </a:xfrm>
          <a:prstGeom prst="roundRect">
            <a:avLst>
              <a:gd name="adj" fmla="val 9951"/>
            </a:avLst>
          </a:prstGeom>
          <a:solidFill>
            <a:srgbClr val="ECFDF5"/>
          </a:solidFill>
          <a:ln w="9525">
            <a:solidFill>
              <a:srgbClr val="9FDC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620" bIns="54620" lIns="109240" rIns="109240"/>
          <a:lstStyle/>
          <a:p>
            <a:pPr algn="ctr"/>
            <a:r>
              <a:rPr b="1" sz="1230">
                <a:solidFill>
                  <a:srgbClr val="0F172A"/>
                </a:solidFill>
                <a:latin typeface="Inter"/>
              </a:rPr>
              <a:t>compileall: every .pyc</a:t>
            </a:r>
          </a:p>
          <a:p>
            <a:pPr algn="ctr"/>
            <a:r>
              <a:rPr b="0" sz="1010">
                <a:solidFill>
                  <a:srgbClr val="059669"/>
                </a:solidFill>
                <a:latin typeface="Inter"/>
              </a:rPr>
              <a:t>built once, cached by Modal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24567" y="3291244"/>
            <a:ext cx="2535912" cy="350520"/>
          </a:xfrm>
          <a:prstGeom prst="roundRect">
            <a:avLst>
              <a:gd name="adj" fmla="val 15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620" bIns="54620" lIns="109240" rIns="109240"/>
          <a:lstStyle/>
          <a:p>
            <a:pPr algn="ctr"/>
            <a:r>
              <a:rPr b="0" sz="1230">
                <a:solidFill>
                  <a:srgbClr val="334155"/>
                </a:solidFill>
                <a:latin typeface="Inter"/>
              </a:rPr>
              <a:t>import manifest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24567" y="3664624"/>
            <a:ext cx="2535912" cy="350520"/>
          </a:xfrm>
          <a:prstGeom prst="roundRect">
            <a:avLst>
              <a:gd name="adj" fmla="val 15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620" bIns="54620" lIns="109240" rIns="109240"/>
          <a:lstStyle/>
          <a:p>
            <a:pPr algn="ctr"/>
            <a:r>
              <a:rPr b="0" sz="1230">
                <a:solidFill>
                  <a:srgbClr val="334155"/>
                </a:solidFill>
                <a:latin typeface="Inter"/>
              </a:rPr>
              <a:t>our engine files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043725"/>
            <a:ext cx="10728960" cy="646033"/>
          </a:xfrm>
          <a:prstGeom prst="roundRect">
            <a:avLst>
              <a:gd name="adj" fmla="val 11795"/>
            </a:avLst>
          </a:prstGeom>
          <a:solidFill>
            <a:srgbClr val="0F172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12361" bIns="112361" lIns="140451" rIns="140451"/>
          <a:lstStyle/>
          <a:p>
            <a:pPr algn="ctr"/>
            <a:r>
              <a:rPr b="0" sz="1110">
                <a:solidFill>
                  <a:srgbClr val="94A3B8"/>
                </a:solidFill>
                <a:latin typeface="Roboto Mono"/>
              </a:rPr>
              <a:t># fes/common.py · with_bytecode(): runs once, at image build</a:t>
            </a:r>
            <a:r>
              <a:rPr b="0" sz="1110">
                <a:solidFill>
                  <a:srgbClr val="E2E8F0"/>
                </a:solidFill>
                <a:latin typeface="Roboto Mono"/>
              </a:rPr>
              <a:t> python -m compileall -q -j 0 /opt/sglang/lib/python3.12/site-packages /sgl-workspace/sglang/python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451996"/>
            <a:ext cx="1235035" cy="186570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010">
                <a:solidFill>
                  <a:srgbClr val="94A3B8"/>
                </a:solidFill>
                <a:latin typeface="Inter"/>
              </a:rPr>
              <a:t>Fast Engine Startup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23758" y="6451996"/>
            <a:ext cx="436721" cy="186570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010">
                <a:solidFill>
                  <a:srgbClr val="94A3B8"/>
                </a:solidFill>
                <a:latin typeface="Inter"/>
              </a:rPr>
              <a:t>22 / 34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33888"/>
            <a:ext cx="10728960" cy="203715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1110">
                <a:solidFill>
                  <a:srgbClr val="2563EB"/>
                </a:solidFill>
                <a:latin typeface="Inter"/>
              </a:rPr>
              <a:t>PYTHON IMPORTS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35831"/>
            <a:ext cx="10728960" cy="448627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3070">
                <a:solidFill>
                  <a:srgbClr val="0F172A"/>
                </a:solidFill>
                <a:latin typeface="Inter"/>
              </a:rPr>
              <a:t>How import-file prefetch shortens init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32227"/>
            <a:ext cx="10728960" cy="310991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689">
                <a:solidFill>
                  <a:srgbClr val="334155"/>
                </a:solidFill>
                <a:latin typeface="Inter"/>
              </a:rPr>
              <a:t>Modal fetches image files on first read; SGLang's imports read ~14k of them one by 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00632"/>
            <a:ext cx="5247441" cy="1534953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5564" bIns="175564" lIns="214579" rIns="214579"/>
          <a:lstStyle/>
          <a:p>
            <a:pPr algn="ctr"/>
            <a:r>
              <a:rPr b="1" sz="1200">
                <a:solidFill>
                  <a:srgbClr val="2563EB"/>
                </a:solidFill>
                <a:latin typeface="Inter"/>
              </a:rPr>
              <a:t>AT IMAGE BUILD</a:t>
            </a:r>
          </a:p>
          <a:p>
            <a:pPr algn="ctr"/>
            <a:r>
              <a:rPr b="0" sz="1540">
                <a:solidFill>
                  <a:srgbClr val="334155"/>
                </a:solidFill>
                <a:latin typeface="Inter"/>
              </a:rPr>
              <a:t>Record every file an engine's imports read, and save the list in the image.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00632"/>
            <a:ext cx="30480" cy="1534953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3038" y="2200632"/>
            <a:ext cx="5247441" cy="1534953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5564" bIns="175564" lIns="214579" rIns="214579"/>
          <a:lstStyle/>
          <a:p>
            <a:pPr algn="ctr"/>
            <a:r>
              <a:rPr b="1" sz="1200">
                <a:solidFill>
                  <a:srgbClr val="059669"/>
                </a:solidFill>
                <a:latin typeface="Inter"/>
              </a:rPr>
              <a:t>AT CONTAINER START</a:t>
            </a:r>
          </a:p>
          <a:p>
            <a:pPr algn="ctr"/>
            <a:r>
              <a:rPr b="0" sz="1540">
                <a:solidFill>
                  <a:srgbClr val="334155"/>
                </a:solidFill>
                <a:latin typeface="Inter"/>
              </a:rPr>
              <a:t>Load those files into memory (the OS page cache) in parallel, while SGLang imports. Its imports then read them from RAM.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3038" y="2200632"/>
            <a:ext cx="30480" cy="1534953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3969662"/>
            <a:ext cx="10728960" cy="570904"/>
          </a:xfrm>
          <a:prstGeom prst="roundRect">
            <a:avLst>
              <a:gd name="adj" fmla="val 1601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6550" bIns="136550" lIns="195072" rIns="195072"/>
          <a:lstStyle/>
          <a:p>
            <a:pPr algn="ctr"/>
            <a:r>
              <a:rPr b="1" sz="1540">
                <a:solidFill>
                  <a:srgbClr val="0F172A"/>
                </a:solidFill>
                <a:latin typeface="Inter"/>
              </a:rPr>
              <a:t>Result:</a:t>
            </a:r>
            <a:r>
              <a:rPr b="0" sz="1540">
                <a:solidFill>
                  <a:srgbClr val="334155"/>
                </a:solidFill>
                <a:latin typeface="Inter"/>
              </a:rPr>
              <a:t> ~2–4 s faster on real starts, within host-to-host noise.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51996"/>
            <a:ext cx="1235035" cy="186570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010">
                <a:solidFill>
                  <a:srgbClr val="94A3B8"/>
                </a:solidFill>
                <a:latin typeface="Inter"/>
              </a:rPr>
              <a:t>Fast Engine Startup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23758" y="6451996"/>
            <a:ext cx="436721" cy="186570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010">
                <a:solidFill>
                  <a:srgbClr val="94A3B8"/>
                </a:solidFill>
                <a:latin typeface="Inter"/>
              </a:rPr>
              <a:t>23 / 34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33888"/>
            <a:ext cx="10728960" cy="203715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1110">
                <a:solidFill>
                  <a:srgbClr val="2563EB"/>
                </a:solidFill>
                <a:latin typeface="Inter"/>
              </a:rPr>
              <a:t>PYTHON IMPORTS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35831"/>
            <a:ext cx="10728960" cy="448627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3070">
                <a:solidFill>
                  <a:srgbClr val="0F172A"/>
                </a:solidFill>
                <a:latin typeface="Inter"/>
              </a:rPr>
              <a:t>Why spawn is slower than fork</a:t>
            </a:r>
          </a:p>
        </p:txBody>
      </p:sp>
      <p:pic>
        <p:nvPicPr>
          <p:cNvPr id="4" name="Picture 3" descr="23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6521"/>
            <a:ext cx="10728960" cy="111156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3042165"/>
            <a:ext cx="5247441" cy="1252180"/>
          </a:xfrm>
          <a:prstGeom prst="roundRect">
            <a:avLst>
              <a:gd name="adj" fmla="val 730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5564" bIns="175564" lIns="214579" rIns="214579"/>
          <a:lstStyle/>
          <a:p>
            <a:pPr algn="ctr"/>
            <a:r>
              <a:rPr b="1" sz="1200">
                <a:solidFill>
                  <a:srgbClr val="DC2626"/>
                </a:solidFill>
                <a:latin typeface="Inter"/>
              </a:rPr>
              <a:t>SPAWN: A FRESH PROCESS</a:t>
            </a:r>
          </a:p>
          <a:p>
            <a:pPr algn="ctr"/>
            <a:r>
              <a:rPr b="0" sz="1540">
                <a:solidFill>
                  <a:srgbClr val="334155"/>
                </a:solidFill>
                <a:latin typeface="Inter"/>
              </a:rPr>
              <a:t>Starts a new Python interpreter, which imports torch and SGLang again. Every TP worker pays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042165"/>
            <a:ext cx="30480" cy="12521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3038" y="3042165"/>
            <a:ext cx="5247441" cy="1252180"/>
          </a:xfrm>
          <a:prstGeom prst="roundRect">
            <a:avLst>
              <a:gd name="adj" fmla="val 730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5564" bIns="175564" lIns="214579" rIns="214579"/>
          <a:lstStyle/>
          <a:p>
            <a:pPr algn="ctr"/>
            <a:r>
              <a:rPr b="1" sz="1200">
                <a:solidFill>
                  <a:srgbClr val="059669"/>
                </a:solidFill>
                <a:latin typeface="Inter"/>
              </a:rPr>
              <a:t>FORK: A COPY OF THE PARENT</a:t>
            </a:r>
          </a:p>
          <a:p>
            <a:pPr algn="ctr"/>
            <a:r>
              <a:rPr b="0" sz="1540">
                <a:solidFill>
                  <a:srgbClr val="334155"/>
                </a:solidFill>
                <a:latin typeface="Inter"/>
              </a:rPr>
              <a:t>Modules are already in memory. Pages are shared copy-on-write, so the worker starts in milliseconds.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3038" y="3042165"/>
            <a:ext cx="30480" cy="125218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441388"/>
            <a:ext cx="10728960" cy="231814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260">
                <a:solidFill>
                  <a:srgbClr val="64748B"/>
                </a:solidFill>
                <a:latin typeface="Inter"/>
              </a:rPr>
              <a:t>One TP worker. ~15 s is the measured warm import per process; the CUDA block is only illustrative.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907280"/>
            <a:ext cx="10728960" cy="570904"/>
          </a:xfrm>
          <a:prstGeom prst="roundRect">
            <a:avLst>
              <a:gd name="adj" fmla="val 1601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6550" bIns="136550" lIns="195072" rIns="195072"/>
          <a:lstStyle/>
          <a:p>
            <a:pPr algn="ctr"/>
            <a:r>
              <a:rPr b="1" sz="1540">
                <a:solidFill>
                  <a:srgbClr val="0F172A"/>
                </a:solidFill>
                <a:latin typeface="Inter"/>
              </a:rPr>
              <a:t>Why SGLang uses spawn:</a:t>
            </a:r>
            <a:r>
              <a:rPr b="0" sz="1540">
                <a:solidFill>
                  <a:srgbClr val="334155"/>
                </a:solidFill>
                <a:latin typeface="Inter"/>
              </a:rPr>
              <a:t> CUDA can't be used in a child forked after CUDA started.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51996"/>
            <a:ext cx="1235035" cy="186570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010">
                <a:solidFill>
                  <a:srgbClr val="94A3B8"/>
                </a:solidFill>
                <a:latin typeface="Inter"/>
              </a:rPr>
              <a:t>Fast Engine Startup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23758" y="6451996"/>
            <a:ext cx="436721" cy="186570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010">
                <a:solidFill>
                  <a:srgbClr val="94A3B8"/>
                </a:solidFill>
                <a:latin typeface="Inter"/>
              </a:rPr>
              <a:t>24 / 34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33888"/>
            <a:ext cx="10728960" cy="203715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1110">
                <a:solidFill>
                  <a:srgbClr val="2563EB"/>
                </a:solidFill>
                <a:latin typeface="Inter"/>
              </a:rPr>
              <a:t>PYTHON IMPORTS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35831"/>
            <a:ext cx="10728960" cy="448627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3070">
                <a:solidFill>
                  <a:srgbClr val="0F172A"/>
                </a:solidFill>
                <a:latin typeface="Inter"/>
              </a:rPr>
              <a:t>Fork instead of spawn </a:t>
            </a:r>
            <a:r>
              <a:rPr b="1" sz="1110">
                <a:solidFill>
                  <a:srgbClr val="DC2626"/>
                </a:solidFill>
                <a:latin typeface="Inter"/>
              </a:rPr>
              <a:t>REJECTED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6521"/>
            <a:ext cx="5247441" cy="1090969"/>
          </a:xfrm>
          <a:prstGeom prst="roundRect">
            <a:avLst>
              <a:gd name="adj" fmla="val 838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5564" bIns="175564" lIns="214579" rIns="214579"/>
          <a:lstStyle/>
          <a:p>
            <a:pPr algn="ctr"/>
            <a:r>
              <a:rPr b="1" sz="1200">
                <a:solidFill>
                  <a:srgbClr val="059669"/>
                </a:solidFill>
                <a:latin typeface="Inter"/>
              </a:rPr>
              <a:t>UPSIDE</a:t>
            </a:r>
          </a:p>
          <a:p>
            <a:pPr algn="ctr"/>
          </a:p>
          <a:p>
            <a:pPr algn="ctr"/>
            <a:r>
              <a:rPr b="0" sz="1689">
                <a:solidFill>
                  <a:srgbClr val="334155"/>
                </a:solidFill>
                <a:latin typeface="Inter"/>
              </a:rPr>
              <a:t>Faster process startup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96521"/>
            <a:ext cx="30480" cy="1090969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6550" y="2219920"/>
            <a:ext cx="241339" cy="241339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1520">
                <a:solidFill>
                  <a:srgbClr val="059669"/>
                </a:solidFill>
                <a:latin typeface="Inter"/>
              </a:rPr>
              <a:t>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3038" y="1696521"/>
            <a:ext cx="5247441" cy="1090969"/>
          </a:xfrm>
          <a:prstGeom prst="roundRect">
            <a:avLst>
              <a:gd name="adj" fmla="val 838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5564" bIns="175564" lIns="214579" rIns="214579"/>
          <a:lstStyle/>
          <a:p>
            <a:pPr algn="ctr"/>
            <a:r>
              <a:rPr b="1" sz="1200">
                <a:solidFill>
                  <a:srgbClr val="DC2626"/>
                </a:solidFill>
                <a:latin typeface="Inter"/>
              </a:rPr>
              <a:t>DOWNSIDE</a:t>
            </a:r>
          </a:p>
          <a:p>
            <a:pPr algn="ctr"/>
          </a:p>
          <a:p>
            <a:pPr algn="ctr"/>
            <a:r>
              <a:rPr b="0" sz="1689">
                <a:solidFill>
                  <a:srgbClr val="334155"/>
                </a:solidFill>
                <a:latin typeface="Inter"/>
              </a:rPr>
              <a:t>Unsafe once CUDA is initialized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3038" y="1696521"/>
            <a:ext cx="30480" cy="1090969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8069" y="2219920"/>
            <a:ext cx="241339" cy="241339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1520">
                <a:solidFill>
                  <a:srgbClr val="DC2626"/>
                </a:solidFill>
                <a:latin typeface="Inter"/>
              </a:rPr>
              <a:t>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74193"/>
            <a:ext cx="10728960" cy="296941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1130">
                <a:solidFill>
                  <a:srgbClr val="64748B"/>
                </a:solidFill>
                <a:latin typeface="Inter"/>
              </a:rPr>
              <a:t>DECISION</a:t>
            </a:r>
            <a:r>
              <a:rPr b="0" sz="1610">
                <a:solidFill>
                  <a:srgbClr val="334155"/>
                </a:solidFill>
                <a:latin typeface="Inter"/>
              </a:rPr>
              <a:t>A forkserver started before CUDA is future work.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51996"/>
            <a:ext cx="1235035" cy="186570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010">
                <a:solidFill>
                  <a:srgbClr val="94A3B8"/>
                </a:solidFill>
                <a:latin typeface="Inter"/>
              </a:rPr>
              <a:t>Fast Engine Startup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23758" y="6451996"/>
            <a:ext cx="436721" cy="186570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010">
                <a:solidFill>
                  <a:srgbClr val="94A3B8"/>
                </a:solidFill>
                <a:latin typeface="Inter"/>
              </a:rPr>
              <a:t>25 / 34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33888"/>
            <a:ext cx="10728960" cy="203715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1110">
                <a:solidFill>
                  <a:srgbClr val="2563EB"/>
                </a:solidFill>
                <a:latin typeface="Inter"/>
              </a:rPr>
              <a:t>COMPILED KERNELS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35831"/>
            <a:ext cx="10728960" cy="448627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3070">
                <a:solidFill>
                  <a:srgbClr val="0F172A"/>
                </a:solidFill>
                <a:latin typeface="Inter"/>
              </a:rPr>
              <a:t>Compiled kernels: compile cache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32227"/>
            <a:ext cx="10728960" cy="310991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689">
                <a:solidFill>
                  <a:srgbClr val="334155"/>
                </a:solidFill>
                <a:latin typeface="Inter"/>
              </a:rPr>
              <a:t>Save compiled kernels after the first start. Restore them on later starts.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00632"/>
            <a:ext cx="5374600" cy="220622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1200">
                <a:solidFill>
                  <a:srgbClr val="059669"/>
                </a:solidFill>
                <a:latin typeface="Inter"/>
              </a:rPr>
              <a:t>PROS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09004"/>
            <a:ext cx="5374600" cy="93606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Aft>
                <a:spcPts val="600"/>
              </a:spcAft>
            </a:pPr>
            <a:r>
              <a:rPr b="0" sz="1540">
                <a:solidFill>
                  <a:srgbClr val="334155"/>
                </a:solidFill>
                <a:latin typeface="Inter"/>
              </a:rPr>
              <a:t>•  </a:t>
            </a:r>
            <a:r>
              <a:rPr b="0" sz="1540">
                <a:solidFill>
                  <a:srgbClr val="334155"/>
                </a:solidFill>
                <a:latin typeface="Inter"/>
              </a:rPr>
              <a:t>~60 s saved on 30B</a:t>
            </a:r>
          </a:p>
          <a:p>
            <a:pPr>
              <a:spcAft>
                <a:spcPts val="600"/>
              </a:spcAft>
            </a:pPr>
            <a:r>
              <a:rPr b="0" sz="1540">
                <a:solidFill>
                  <a:srgbClr val="334155"/>
                </a:solidFill>
                <a:latin typeface="Inter"/>
              </a:rPr>
              <a:t>•  </a:t>
            </a:r>
            <a:r>
              <a:rPr b="0" sz="1540">
                <a:solidFill>
                  <a:srgbClr val="334155"/>
                </a:solidFill>
                <a:latin typeface="Inter"/>
              </a:rPr>
              <a:t>Shared across starts with the same SGLang, GPU, TP and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97116"/>
            <a:ext cx="5374600" cy="220622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1200">
                <a:solidFill>
                  <a:srgbClr val="DC2626"/>
                </a:solidFill>
                <a:latin typeface="Inter"/>
              </a:rPr>
              <a:t>CONS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05488"/>
            <a:ext cx="5374600" cy="93606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Aft>
                <a:spcPts val="600"/>
              </a:spcAft>
            </a:pPr>
            <a:r>
              <a:rPr b="0" sz="1540">
                <a:solidFill>
                  <a:srgbClr val="334155"/>
                </a:solidFill>
                <a:latin typeface="Inter"/>
              </a:rPr>
              <a:t>•  </a:t>
            </a:r>
            <a:r>
              <a:rPr b="0" sz="1540">
                <a:solidFill>
                  <a:srgbClr val="334155"/>
                </a:solidFill>
                <a:latin typeface="Inter"/>
              </a:rPr>
              <a:t>First start of a new configuration still compiles</a:t>
            </a:r>
          </a:p>
          <a:p>
            <a:pPr>
              <a:spcAft>
                <a:spcPts val="600"/>
              </a:spcAft>
            </a:pPr>
            <a:r>
              <a:rPr b="0" sz="1540">
                <a:solidFill>
                  <a:srgbClr val="334155"/>
                </a:solidFill>
                <a:latin typeface="Inter"/>
              </a:rPr>
              <a:t>•  </a:t>
            </a:r>
            <a:r>
              <a:rPr b="0" sz="1540">
                <a:solidFill>
                  <a:srgbClr val="334155"/>
                </a:solidFill>
                <a:latin typeface="Inter"/>
              </a:rPr>
              <a:t>A dedicated volume per model (fes-artifacts-&lt;model&gt;) to store and manage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74274" y="2200632"/>
          <a:ext cx="4886205" cy="13120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28735"/>
                <a:gridCol w="1628735"/>
                <a:gridCol w="1628735"/>
              </a:tblGrid>
              <a:tr h="437356">
                <a:tc>
                  <a:txBody>
                    <a:bodyPr wrap="square"/>
                    <a:lstStyle/>
                    <a:p/>
                  </a:txBody>
                  <a:tcPr marL="60960" marR="60960" marT="30480" marB="3048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64748B"/>
                          </a:solidFill>
                          <a:latin typeface="Inter"/>
                        </a:rPr>
                        <a:t>COLD</a:t>
                      </a:r>
                    </a:p>
                  </a:txBody>
                  <a:tcPr marL="60960" marR="60960" marT="30480" marB="3048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64748B"/>
                          </a:solidFill>
                          <a:latin typeface="Inter"/>
                        </a:rPr>
                        <a:t>CACHED</a:t>
                      </a:r>
                    </a:p>
                  </a:txBody>
                  <a:tcPr marL="60960" marR="60960" marT="30480" marB="30480">
                    <a:noFill/>
                  </a:tcPr>
                </a:tc>
              </a:tr>
              <a:tr h="437356">
                <a:tc>
                  <a:txBody>
                    <a:bodyPr wrap="square"/>
                    <a:lstStyle/>
                    <a:p>
                      <a:r>
                        <a:rPr b="1" sz="1410">
                          <a:solidFill>
                            <a:srgbClr val="0F172A"/>
                          </a:solidFill>
                          <a:latin typeface="Inter"/>
                        </a:rPr>
                        <a:t>NCCL init</a:t>
                      </a:r>
                    </a:p>
                  </a:txBody>
                  <a:tcPr marL="60960" marR="60960" marT="30480" marB="3048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10">
                          <a:solidFill>
                            <a:srgbClr val="334155"/>
                          </a:solidFill>
                          <a:latin typeface="Inter"/>
                        </a:rPr>
                        <a:t>19 s</a:t>
                      </a:r>
                    </a:p>
                  </a:txBody>
                  <a:tcPr marL="60960" marR="60960" marT="30480" marB="3048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10">
                          <a:solidFill>
                            <a:srgbClr val="334155"/>
                          </a:solidFill>
                          <a:latin typeface="Inter"/>
                        </a:rPr>
                        <a:t>1 s</a:t>
                      </a:r>
                    </a:p>
                  </a:txBody>
                  <a:tcPr marL="60960" marR="60960" marT="30480" marB="30480">
                    <a:noFill/>
                  </a:tcPr>
                </a:tc>
              </a:tr>
              <a:tr h="437356">
                <a:tc>
                  <a:txBody>
                    <a:bodyPr wrap="square"/>
                    <a:lstStyle/>
                    <a:p>
                      <a:r>
                        <a:rPr b="1" sz="1410">
                          <a:solidFill>
                            <a:srgbClr val="0F172A"/>
                          </a:solidFill>
                          <a:latin typeface="Inter"/>
                        </a:rPr>
                        <a:t>CUDA graphs</a:t>
                      </a:r>
                    </a:p>
                  </a:txBody>
                  <a:tcPr marL="60960" marR="60960" marT="30480" marB="3048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10">
                          <a:solidFill>
                            <a:srgbClr val="334155"/>
                          </a:solidFill>
                          <a:latin typeface="Inter"/>
                        </a:rPr>
                        <a:t>73 s</a:t>
                      </a:r>
                    </a:p>
                  </a:txBody>
                  <a:tcPr marL="60960" marR="60960" marT="30480" marB="3048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10">
                          <a:solidFill>
                            <a:srgbClr val="334155"/>
                          </a:solidFill>
                          <a:latin typeface="Inter"/>
                        </a:rPr>
                        <a:t>27 s</a:t>
                      </a:r>
                    </a:p>
                  </a:txBody>
                  <a:tcPr marL="60960" marR="60960" marT="30480" marB="30480">
                    <a:noFill/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6451996"/>
            <a:ext cx="1235035" cy="186570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010">
                <a:solidFill>
                  <a:srgbClr val="94A3B8"/>
                </a:solidFill>
                <a:latin typeface="Inter"/>
              </a:rPr>
              <a:t>Fast Engine Startup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23758" y="6451996"/>
            <a:ext cx="436721" cy="186570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010">
                <a:solidFill>
                  <a:srgbClr val="94A3B8"/>
                </a:solidFill>
                <a:latin typeface="Inter"/>
              </a:rPr>
              <a:t>26 / 34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33888"/>
            <a:ext cx="10728960" cy="203715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1110">
                <a:solidFill>
                  <a:srgbClr val="2563EB"/>
                </a:solidFill>
                <a:latin typeface="Inter"/>
              </a:rPr>
              <a:t>COMPILED KERNELS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35831"/>
            <a:ext cx="10728960" cy="448627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3070">
                <a:solidFill>
                  <a:srgbClr val="0F172A"/>
                </a:solidFill>
                <a:latin typeface="Inter"/>
              </a:rPr>
              <a:t>How the compile cache helps</a:t>
            </a:r>
          </a:p>
        </p:txBody>
      </p:sp>
      <p:pic>
        <p:nvPicPr>
          <p:cNvPr id="4" name="Picture 3" descr="26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6521"/>
            <a:ext cx="10728960" cy="155031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3480911"/>
            <a:ext cx="5247441" cy="1534953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5564" bIns="175564" lIns="214579" rIns="214579"/>
          <a:lstStyle/>
          <a:p>
            <a:pPr algn="ctr"/>
            <a:r>
              <a:rPr b="1" sz="1200">
                <a:solidFill>
                  <a:srgbClr val="DC2626"/>
                </a:solidFill>
                <a:latin typeface="Inter"/>
              </a:rPr>
              <a:t>FIRST START: COMPILE, THEN SAVE</a:t>
            </a:r>
          </a:p>
          <a:p>
            <a:pPr algn="ctr"/>
            <a:r>
              <a:rPr b="0" sz="1540">
                <a:solidFill>
                  <a:srgbClr val="334155"/>
                </a:solidFill>
                <a:latin typeface="Inter"/>
              </a:rPr>
              <a:t>SGLang compiles its GPU kernels (Triton, FlashInfer, all-reduce). After READY, they are packed into one ~29 MB tar on </a:t>
            </a:r>
            <a:r>
              <a:rPr b="0" sz="1310">
                <a:solidFill>
                  <a:srgbClr val="334155"/>
                </a:solidFill>
                <a:latin typeface="Roboto Mono"/>
              </a:rPr>
              <a:t>fes-artifacts-&lt;model&gt;</a:t>
            </a:r>
            <a:r>
              <a:rPr b="0" sz="154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480911"/>
            <a:ext cx="30480" cy="1534953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3038" y="3480911"/>
            <a:ext cx="5247441" cy="1534953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5564" bIns="175564" lIns="214579" rIns="214579"/>
          <a:lstStyle/>
          <a:p>
            <a:pPr algn="ctr"/>
            <a:r>
              <a:rPr b="1" sz="1200">
                <a:solidFill>
                  <a:srgbClr val="059669"/>
                </a:solidFill>
                <a:latin typeface="Inter"/>
              </a:rPr>
              <a:t>LATER STARTS: RESTORE, THEN REUSE</a:t>
            </a:r>
          </a:p>
          <a:p>
            <a:pPr algn="ctr"/>
            <a:r>
              <a:rPr b="0" sz="1540">
                <a:solidFill>
                  <a:srgbClr val="334155"/>
                </a:solidFill>
                <a:latin typeface="Inter"/>
              </a:rPr>
              <a:t>At boot the tar is unpacked beside the launch. SGLang finds every kernel already compiled and skips the compile.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3038" y="3480911"/>
            <a:ext cx="30480" cy="1534953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210889"/>
            <a:ext cx="10728960" cy="231814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260">
                <a:solidFill>
                  <a:srgbClr val="64748B"/>
                </a:solidFill>
                <a:latin typeface="Inter"/>
              </a:rPr>
              <a:t>Qwen3-30B, full CUDA graphs. Also saves ~9 s of warmup. Reused by any start with the same SGLang version, GPU, TP and model config.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51996"/>
            <a:ext cx="1235035" cy="186570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010">
                <a:solidFill>
                  <a:srgbClr val="94A3B8"/>
                </a:solidFill>
                <a:latin typeface="Inter"/>
              </a:rPr>
              <a:t>Fast Engine Startup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23758" y="6451996"/>
            <a:ext cx="436721" cy="186570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010">
                <a:solidFill>
                  <a:srgbClr val="94A3B8"/>
                </a:solidFill>
                <a:latin typeface="Inter"/>
              </a:rPr>
              <a:t>27 / 34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934057"/>
            <a:ext cx="10728960" cy="310991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1689">
                <a:solidFill>
                  <a:srgbClr val="60A5FA"/>
                </a:solidFill>
                <a:latin typeface="Inter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373755"/>
            <a:ext cx="10728960" cy="696396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5220">
                <a:solidFill>
                  <a:srgbClr val="FFFFFF"/>
                </a:solidFill>
                <a:latin typeface="Inter"/>
              </a:rPr>
              <a:t>Make it work, then make it reliable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51996"/>
            <a:ext cx="1235035" cy="186570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010">
                <a:solidFill>
                  <a:srgbClr val="475569"/>
                </a:solidFill>
                <a:latin typeface="Inter"/>
              </a:rPr>
              <a:t>Fast Engine Startup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23758" y="6451996"/>
            <a:ext cx="436721" cy="186570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010">
                <a:solidFill>
                  <a:srgbClr val="475569"/>
                </a:solidFill>
                <a:latin typeface="Inter"/>
              </a:rPr>
              <a:t>28 / 34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33888"/>
            <a:ext cx="10728960" cy="203715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1110">
                <a:solidFill>
                  <a:srgbClr val="2563EB"/>
                </a:solidFill>
                <a:latin typeface="Inter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35831"/>
            <a:ext cx="10728960" cy="448627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3070">
                <a:solidFill>
                  <a:srgbClr val="0F172A"/>
                </a:solidFill>
                <a:latin typeface="Inter"/>
              </a:rPr>
              <a:t>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6521"/>
            <a:ext cx="10728960" cy="1593056"/>
          </a:xfrm>
          <a:prstGeom prst="roundRect">
            <a:avLst>
              <a:gd name="adj" fmla="val 6696"/>
            </a:avLst>
          </a:prstGeom>
          <a:solidFill>
            <a:srgbClr val="EF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26544" y="1852493"/>
            <a:ext cx="10338911" cy="220622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1200">
                <a:solidFill>
                  <a:srgbClr val="2563EB"/>
                </a:solidFill>
                <a:latin typeface="Inter"/>
              </a:rPr>
              <a:t>LOCAL CONTROL PLANE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6544" y="2133957"/>
            <a:ext cx="1724501" cy="960596"/>
          </a:xfrm>
          <a:prstGeom prst="roundRect">
            <a:avLst>
              <a:gd name="adj" fmla="val 793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17043" bIns="117043" lIns="146304" rIns="146304"/>
          <a:lstStyle/>
          <a:p>
            <a:pPr algn="ctr"/>
            <a:r>
              <a:rPr b="1" sz="1540">
                <a:solidFill>
                  <a:srgbClr val="0F172A"/>
                </a:solidFill>
                <a:latin typeface="Inter"/>
              </a:rPr>
              <a:t>Web UI</a:t>
            </a:r>
          </a:p>
          <a:p>
            <a:pPr algn="ctr"/>
            <a:r>
              <a:rPr b="0" sz="1140">
                <a:solidFill>
                  <a:srgbClr val="64748B"/>
                </a:solidFill>
                <a:latin typeface="Inter"/>
              </a:rPr>
              <a:t>pages + JSON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045" y="2133957"/>
            <a:ext cx="429101" cy="960596"/>
          </a:xfrm>
          <a:prstGeom prst="rect">
            <a:avLst/>
          </a:prstGeom>
          <a:noFill/>
        </p:spPr>
        <p:txBody>
          <a:bodyPr wrap="square" tIns="0" bIns="0" lIns="0" rIns="0" anchor="ctr"/>
          <a:lstStyle/>
          <a:p>
            <a:pPr algn="ctr"/>
            <a:r>
              <a:rPr b="0" sz="1839">
                <a:solidFill>
                  <a:srgbClr val="94A3B8"/>
                </a:solidFill>
                <a:latin typeface="Inter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80146" y="2133957"/>
            <a:ext cx="1724501" cy="960596"/>
          </a:xfrm>
          <a:prstGeom prst="roundRect">
            <a:avLst>
              <a:gd name="adj" fmla="val 793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17043" bIns="117043" lIns="146304" rIns="146304"/>
          <a:lstStyle/>
          <a:p>
            <a:pPr algn="ctr"/>
            <a:r>
              <a:rPr b="1" sz="1540">
                <a:solidFill>
                  <a:srgbClr val="0F172A"/>
                </a:solidFill>
                <a:latin typeface="Inter"/>
              </a:rPr>
              <a:t>API</a:t>
            </a:r>
          </a:p>
          <a:p>
            <a:pPr algn="ctr"/>
            <a:r>
              <a:rPr b="0" sz="1140">
                <a:solidFill>
                  <a:srgbClr val="64748B"/>
                </a:solidFill>
                <a:latin typeface="Inter"/>
              </a:rPr>
              <a:t>writes jobs, streams progress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4648" y="2133957"/>
            <a:ext cx="429101" cy="960596"/>
          </a:xfrm>
          <a:prstGeom prst="rect">
            <a:avLst/>
          </a:prstGeom>
          <a:noFill/>
        </p:spPr>
        <p:txBody>
          <a:bodyPr wrap="square" tIns="0" bIns="0" lIns="0" rIns="0" anchor="ctr"/>
          <a:lstStyle/>
          <a:p>
            <a:pPr algn="ctr"/>
            <a:r>
              <a:rPr b="0" sz="1839">
                <a:solidFill>
                  <a:srgbClr val="94A3B8"/>
                </a:solidFill>
                <a:latin typeface="Inter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33749" y="2133957"/>
            <a:ext cx="1724501" cy="960596"/>
          </a:xfrm>
          <a:prstGeom prst="roundRect">
            <a:avLst>
              <a:gd name="adj" fmla="val 793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17043" bIns="117043" lIns="146304" rIns="146304"/>
          <a:lstStyle/>
          <a:p>
            <a:pPr algn="ctr"/>
            <a:r>
              <a:rPr b="1" sz="1540">
                <a:solidFill>
                  <a:srgbClr val="0F172A"/>
                </a:solidFill>
                <a:latin typeface="Inter"/>
              </a:rPr>
              <a:t>Job queue</a:t>
            </a:r>
          </a:p>
          <a:p>
            <a:pPr algn="ctr"/>
            <a:r>
              <a:rPr b="0" sz="1140">
                <a:solidFill>
                  <a:srgbClr val="64748B"/>
                </a:solidFill>
                <a:latin typeface="Inter"/>
              </a:rPr>
              <a:t>Postgres table (Docker)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8250" y="2133957"/>
            <a:ext cx="429101" cy="960596"/>
          </a:xfrm>
          <a:prstGeom prst="rect">
            <a:avLst/>
          </a:prstGeom>
          <a:noFill/>
        </p:spPr>
        <p:txBody>
          <a:bodyPr wrap="square" tIns="0" bIns="0" lIns="0" rIns="0" anchor="ctr"/>
          <a:lstStyle/>
          <a:p>
            <a:pPr algn="ctr"/>
            <a:r>
              <a:rPr b="0" sz="1839">
                <a:solidFill>
                  <a:srgbClr val="94A3B8"/>
                </a:solidFill>
                <a:latin typeface="Inter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87351" y="2133957"/>
            <a:ext cx="1724501" cy="960596"/>
          </a:xfrm>
          <a:prstGeom prst="roundRect">
            <a:avLst>
              <a:gd name="adj" fmla="val 7932"/>
            </a:avLst>
          </a:prstGeom>
          <a:solidFill>
            <a:srgbClr val="FFFFFF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17043" bIns="117043" lIns="146304" rIns="146304"/>
          <a:lstStyle/>
          <a:p>
            <a:pPr algn="ctr"/>
            <a:r>
              <a:rPr b="1" sz="1540">
                <a:solidFill>
                  <a:srgbClr val="0F172A"/>
                </a:solidFill>
                <a:latin typeface="Inter"/>
              </a:rPr>
              <a:t>Worker</a:t>
            </a:r>
          </a:p>
          <a:p>
            <a:pPr algn="ctr"/>
            <a:r>
              <a:rPr b="0" sz="1140">
                <a:solidFill>
                  <a:srgbClr val="64748B"/>
                </a:solidFill>
                <a:latin typeface="Inter"/>
              </a:rPr>
              <a:t>claims a job, plans and runs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11853" y="2133957"/>
            <a:ext cx="429101" cy="960596"/>
          </a:xfrm>
          <a:prstGeom prst="rect">
            <a:avLst/>
          </a:prstGeom>
          <a:noFill/>
        </p:spPr>
        <p:txBody>
          <a:bodyPr wrap="square" tIns="0" bIns="0" lIns="0" rIns="0" anchor="ctr"/>
          <a:lstStyle/>
          <a:p>
            <a:pPr algn="ctr"/>
            <a:r>
              <a:rPr b="0" sz="1839">
                <a:solidFill>
                  <a:srgbClr val="94A3B8"/>
                </a:solidFill>
                <a:latin typeface="Inter"/>
              </a:rPr>
              <a:t>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40954" y="2133957"/>
            <a:ext cx="1724501" cy="960596"/>
          </a:xfrm>
          <a:prstGeom prst="roundRect">
            <a:avLst>
              <a:gd name="adj" fmla="val 793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17043" bIns="117043" lIns="146304" rIns="146304"/>
          <a:lstStyle/>
          <a:p>
            <a:pPr algn="ctr"/>
            <a:r>
              <a:rPr b="1" sz="1540">
                <a:solidFill>
                  <a:srgbClr val="0F172A"/>
                </a:solidFill>
                <a:latin typeface="Inter"/>
              </a:rPr>
              <a:t>Catalog</a:t>
            </a:r>
          </a:p>
          <a:p>
            <a:pPr algn="ctr"/>
            <a:r>
              <a:rPr b="0" sz="1140">
                <a:solidFill>
                  <a:srgbClr val="64748B"/>
                </a:solidFill>
                <a:latin typeface="Inter"/>
              </a:rPr>
              <a:t>what is cached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6285" y="3289577"/>
            <a:ext cx="1802487" cy="507087"/>
          </a:xfrm>
          <a:prstGeom prst="rect">
            <a:avLst/>
          </a:prstGeom>
          <a:noFill/>
        </p:spPr>
        <p:txBody>
          <a:bodyPr wrap="square" tIns="0" bIns="0" lIns="0" rIns="0" anchor="ctr"/>
          <a:lstStyle/>
          <a:p>
            <a:pPr algn="ctr"/>
            <a:r>
              <a:rPr b="1" sz="1230">
                <a:solidFill>
                  <a:srgbClr val="64748B"/>
                </a:solidFill>
                <a:latin typeface="Inter"/>
              </a:rPr>
              <a:t>↓ starts sandboxes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96665"/>
            <a:ext cx="10728960" cy="1982628"/>
          </a:xfrm>
          <a:prstGeom prst="roundRect">
            <a:avLst>
              <a:gd name="adj" fmla="val 538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6544" y="3952636"/>
            <a:ext cx="10338911" cy="220622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1200">
                <a:solidFill>
                  <a:srgbClr val="059669"/>
                </a:solidFill>
                <a:latin typeface="Inter"/>
              </a:rPr>
              <a:t>MODAL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6544" y="4234100"/>
            <a:ext cx="3878103" cy="1350168"/>
          </a:xfrm>
          <a:prstGeom prst="roundRect">
            <a:avLst>
              <a:gd name="adj" fmla="val 5643"/>
            </a:avLst>
          </a:prstGeom>
          <a:solidFill>
            <a:srgbClr val="FFFFFF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17043" bIns="117043" lIns="146304" rIns="146304"/>
          <a:lstStyle/>
          <a:p>
            <a:pPr algn="ctr"/>
            <a:r>
              <a:rPr b="1" sz="1540">
                <a:solidFill>
                  <a:srgbClr val="0F172A"/>
                </a:solidFill>
                <a:latin typeface="Inter"/>
              </a:rPr>
              <a:t>GPU engine</a:t>
            </a:r>
          </a:p>
          <a:p>
            <a:pPr algn="ctr"/>
            <a:r>
              <a:rPr b="0" sz="1140">
                <a:solidFill>
                  <a:srgbClr val="64748B"/>
                </a:solidFill>
                <a:latin typeface="Inter"/>
              </a:rPr>
              <a:t>at once: prefetch weights into RAM · restore compiled kernels · start SGLang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4648" y="4234100"/>
            <a:ext cx="429101" cy="1350168"/>
          </a:xfrm>
          <a:prstGeom prst="rect">
            <a:avLst/>
          </a:prstGeom>
          <a:noFill/>
        </p:spPr>
        <p:txBody>
          <a:bodyPr wrap="square" tIns="0" bIns="0" lIns="0" rIns="0" anchor="ctr"/>
          <a:lstStyle/>
          <a:p>
            <a:pPr algn="ctr"/>
            <a:r>
              <a:rPr b="0" sz="1839">
                <a:solidFill>
                  <a:srgbClr val="94A3B8"/>
                </a:solidFill>
                <a:latin typeface="Inter"/>
              </a:rPr>
              <a:t>←</a:t>
            </a:r>
          </a:p>
          <a:p>
            <a:pPr algn="ctr"/>
            <a:r>
              <a:rPr b="0" sz="919">
                <a:solidFill>
                  <a:srgbClr val="64748B"/>
                </a:solidFill>
                <a:latin typeface="Inter"/>
              </a:rPr>
              <a:t>mount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33749" y="4234100"/>
            <a:ext cx="1724501" cy="1350168"/>
          </a:xfrm>
          <a:prstGeom prst="roundRect">
            <a:avLst>
              <a:gd name="adj" fmla="val 564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17043" bIns="117043" lIns="146304" rIns="146304"/>
          <a:lstStyle/>
          <a:p>
            <a:pPr algn="ctr"/>
            <a:r>
              <a:rPr b="1" sz="1540">
                <a:solidFill>
                  <a:srgbClr val="0F172A"/>
                </a:solidFill>
                <a:latin typeface="Inter"/>
              </a:rPr>
              <a:t>Volumes</a:t>
            </a:r>
          </a:p>
          <a:p>
            <a:pPr algn="ctr"/>
            <a:r>
              <a:rPr b="0" sz="1140">
                <a:solidFill>
                  <a:srgbClr val="64748B"/>
                </a:solidFill>
                <a:latin typeface="Inter"/>
              </a:rPr>
              <a:t>weights + compile cache, one set per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58250" y="4234100"/>
            <a:ext cx="429101" cy="1350168"/>
          </a:xfrm>
          <a:prstGeom prst="rect">
            <a:avLst/>
          </a:prstGeom>
          <a:noFill/>
        </p:spPr>
        <p:txBody>
          <a:bodyPr wrap="square" tIns="0" bIns="0" lIns="0" rIns="0" anchor="ctr"/>
          <a:lstStyle/>
          <a:p>
            <a:pPr algn="ctr"/>
            <a:r>
              <a:rPr b="0" sz="1839">
                <a:solidFill>
                  <a:srgbClr val="94A3B8"/>
                </a:solidFill>
                <a:latin typeface="Inter"/>
              </a:rPr>
              <a:t>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87351" y="4234100"/>
            <a:ext cx="1724501" cy="1350168"/>
          </a:xfrm>
          <a:prstGeom prst="roundRect">
            <a:avLst>
              <a:gd name="adj" fmla="val 564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17043" bIns="117043" lIns="146304" rIns="146304"/>
          <a:lstStyle/>
          <a:p>
            <a:pPr algn="ctr"/>
            <a:r>
              <a:rPr b="1" sz="1540">
                <a:solidFill>
                  <a:srgbClr val="0F172A"/>
                </a:solidFill>
                <a:latin typeface="Inter"/>
              </a:rPr>
              <a:t>CPU prep</a:t>
            </a:r>
          </a:p>
          <a:p>
            <a:pPr algn="ctr"/>
            <a:r>
              <a:rPr b="0" sz="1140">
                <a:solidFill>
                  <a:srgbClr val="64748B"/>
                </a:solidFill>
                <a:latin typeface="Inter"/>
              </a:rPr>
              <a:t>only on a weights cache miss: downloads them, no GPU billed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451996"/>
            <a:ext cx="1235035" cy="186570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010">
                <a:solidFill>
                  <a:srgbClr val="94A3B8"/>
                </a:solidFill>
                <a:latin typeface="Inter"/>
              </a:rPr>
              <a:t>Fast Engine Startup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23758" y="6451996"/>
            <a:ext cx="436721" cy="186570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010">
                <a:solidFill>
                  <a:srgbClr val="94A3B8"/>
                </a:solidFill>
                <a:latin typeface="Inter"/>
              </a:rPr>
              <a:t>29 / 34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33888"/>
            <a:ext cx="10728960" cy="203715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1110">
                <a:solidFill>
                  <a:srgbClr val="2563EB"/>
                </a:solidFill>
                <a:latin typeface="Inter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35831"/>
            <a:ext cx="10728960" cy="448627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3070">
                <a:solidFill>
                  <a:srgbClr val="0F172A"/>
                </a:solidFill>
                <a:latin typeface="Inter"/>
              </a:rPr>
              <a:t>API + job queue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32227"/>
            <a:ext cx="10728960" cy="310991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689">
                <a:solidFill>
                  <a:srgbClr val="334155"/>
                </a:solidFill>
                <a:latin typeface="Inter"/>
              </a:rPr>
              <a:t>The front door. It writes jobs; it never runs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00632"/>
            <a:ext cx="5374600" cy="220622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1200">
                <a:solidFill>
                  <a:srgbClr val="64748B"/>
                </a:solidFill>
                <a:latin typeface="Inter"/>
              </a:rP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18767"/>
            <a:ext cx="5374600" cy="236946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Aft>
                <a:spcPts val="600"/>
              </a:spcAft>
            </a:pPr>
            <a:r>
              <a:rPr b="0" sz="1540">
                <a:solidFill>
                  <a:srgbClr val="334155"/>
                </a:solidFill>
                <a:latin typeface="Inter"/>
              </a:rPr>
              <a:t>•  </a:t>
            </a:r>
            <a:r>
              <a:rPr b="0" sz="1540">
                <a:solidFill>
                  <a:srgbClr val="334155"/>
                </a:solidFill>
                <a:latin typeface="Inter"/>
              </a:rPr>
              <a:t>Flask app: Engines, Jobs, Playground, Catalog, Compare pages + JSON API</a:t>
            </a:r>
          </a:p>
          <a:p>
            <a:pPr>
              <a:spcAft>
                <a:spcPts val="600"/>
              </a:spcAft>
            </a:pPr>
            <a:r>
              <a:rPr b="0" sz="1310">
                <a:solidFill>
                  <a:srgbClr val="334155"/>
                </a:solidFill>
                <a:latin typeface="Roboto Mono"/>
              </a:rPr>
              <a:t>•  </a:t>
            </a:r>
            <a:r>
              <a:rPr b="0" sz="1310">
                <a:solidFill>
                  <a:srgbClr val="334155"/>
                </a:solidFill>
                <a:latin typeface="Roboto Mono"/>
              </a:rPr>
              <a:t>POST /api/jobs</a:t>
            </a:r>
            <a:r>
              <a:rPr b="0" sz="1540">
                <a:solidFill>
                  <a:srgbClr val="334155"/>
                </a:solidFill>
                <a:latin typeface="Inter"/>
              </a:rPr>
              <a:t> inserts a row with status </a:t>
            </a:r>
            <a:r>
              <a:rPr b="1" sz="1540">
                <a:solidFill>
                  <a:srgbClr val="0F172A"/>
                </a:solidFill>
                <a:latin typeface="Inter"/>
              </a:rPr>
              <a:t>queued</a:t>
            </a:r>
          </a:p>
          <a:p>
            <a:pPr>
              <a:spcAft>
                <a:spcPts val="600"/>
              </a:spcAft>
            </a:pPr>
            <a:r>
              <a:rPr b="0" sz="1540">
                <a:solidFill>
                  <a:srgbClr val="334155"/>
                </a:solidFill>
                <a:latin typeface="Inter"/>
              </a:rPr>
              <a:t>•  </a:t>
            </a:r>
            <a:r>
              <a:rPr b="0" sz="1540">
                <a:solidFill>
                  <a:srgbClr val="334155"/>
                </a:solidFill>
                <a:latin typeface="Inter"/>
              </a:rPr>
              <a:t>Progress streams to the page from the job's event log (SSE)</a:t>
            </a:r>
          </a:p>
          <a:p>
            <a:pPr>
              <a:spcAft>
                <a:spcPts val="600"/>
              </a:spcAft>
            </a:pPr>
            <a:r>
              <a:rPr b="0" sz="1540">
                <a:solidFill>
                  <a:srgbClr val="334155"/>
                </a:solidFill>
                <a:latin typeface="Inter"/>
              </a:rPr>
              <a:t>•  </a:t>
            </a:r>
            <a:r>
              <a:rPr b="0" sz="1540">
                <a:solidFill>
                  <a:srgbClr val="334155"/>
                </a:solidFill>
                <a:latin typeface="Inter"/>
              </a:rPr>
              <a:t>Cancel sets a flag the worker checks every second</a:t>
            </a:r>
          </a:p>
          <a:p>
            <a:pPr>
              <a:spcAft>
                <a:spcPts val="600"/>
              </a:spcAft>
            </a:pPr>
            <a:r>
              <a:rPr b="0" sz="1540">
                <a:solidFill>
                  <a:srgbClr val="334155"/>
                </a:solidFill>
                <a:latin typeface="Inter"/>
              </a:rPr>
              <a:t>•  </a:t>
            </a:r>
            <a:r>
              <a:rPr b="0" sz="1540">
                <a:solidFill>
                  <a:srgbClr val="334155"/>
                </a:solidFill>
                <a:latin typeface="Inter"/>
              </a:rPr>
              <a:t>Restarting the API never interrupts a running job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74274" y="2200632"/>
            <a:ext cx="4886205" cy="1534953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5564" bIns="175564" lIns="214579" rIns="214579"/>
          <a:lstStyle/>
          <a:p>
            <a:pPr algn="ctr"/>
            <a:r>
              <a:rPr b="1" sz="1200">
                <a:solidFill>
                  <a:srgbClr val="2563EB"/>
                </a:solidFill>
                <a:latin typeface="Inter"/>
              </a:rPr>
              <a:t>QUEUE = A POSTGRES TABLE</a:t>
            </a:r>
          </a:p>
          <a:p>
            <a:pPr algn="ctr"/>
            <a:r>
              <a:rPr b="0" sz="1540">
                <a:solidFill>
                  <a:srgbClr val="334155"/>
                </a:solidFill>
                <a:latin typeface="Inter"/>
              </a:rPr>
              <a:t>Workers claim the oldest queued row with </a:t>
            </a:r>
            <a:r>
              <a:rPr b="0" sz="1310">
                <a:solidFill>
                  <a:srgbClr val="334155"/>
                </a:solidFill>
                <a:latin typeface="Roboto Mono"/>
              </a:rPr>
              <a:t>FOR UPDATE SKIP LOCKED</a:t>
            </a:r>
            <a:r>
              <a:rPr b="0" sz="1540">
                <a:solidFill>
                  <a:srgbClr val="334155"/>
                </a:solidFill>
                <a:latin typeface="Inter"/>
              </a:rPr>
              <a:t>, so two workers never get the same job.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74274" y="2200632"/>
            <a:ext cx="30480" cy="1534953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74274" y="3911084"/>
            <a:ext cx="4886205" cy="1252180"/>
          </a:xfrm>
          <a:prstGeom prst="roundRect">
            <a:avLst>
              <a:gd name="adj" fmla="val 730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5564" bIns="175564" lIns="214579" rIns="214579"/>
          <a:lstStyle/>
          <a:p>
            <a:pPr algn="ctr"/>
            <a:r>
              <a:rPr b="1" sz="1200">
                <a:solidFill>
                  <a:srgbClr val="059669"/>
                </a:solidFill>
                <a:latin typeface="Inter"/>
              </a:rPr>
              <a:t>JOB STATES</a:t>
            </a:r>
          </a:p>
          <a:p>
            <a:pPr algn="ctr"/>
            <a:r>
              <a:rPr b="0" sz="1540">
                <a:solidFill>
                  <a:srgbClr val="334155"/>
                </a:solidFill>
                <a:latin typeface="Inter"/>
              </a:rPr>
              <a:t>queued → running → serving → stopped · timeout · failed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74274" y="3911084"/>
            <a:ext cx="30480" cy="125218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451996"/>
            <a:ext cx="1235035" cy="186570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010">
                <a:solidFill>
                  <a:srgbClr val="94A3B8"/>
                </a:solidFill>
                <a:latin typeface="Inter"/>
              </a:rPr>
              <a:t>Fast Engine Startup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23758" y="6451996"/>
            <a:ext cx="436721" cy="186570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010">
                <a:solidFill>
                  <a:srgbClr val="94A3B8"/>
                </a:solidFill>
                <a:latin typeface="Inter"/>
              </a:rPr>
              <a:t>30 / 34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33888"/>
            <a:ext cx="10728960" cy="203715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1110">
                <a:solidFill>
                  <a:srgbClr val="2563EB"/>
                </a:solidFill>
                <a:latin typeface="Inter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35831"/>
            <a:ext cx="10728960" cy="448627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3070">
                <a:solidFill>
                  <a:srgbClr val="0F172A"/>
                </a:solidFill>
                <a:latin typeface="Inter"/>
              </a:rPr>
              <a:t>Results: Qwen3-30B · 2×H100</a:t>
            </a:r>
          </a:p>
        </p:txBody>
      </p:sp>
      <p:pic>
        <p:nvPicPr>
          <p:cNvPr id="4" name="Picture 3" descr="30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1497"/>
            <a:ext cx="10728960" cy="3089910"/>
          </a:xfrm>
          <a:prstGeom prst="rect">
            <a:avLst/>
          </a:prstGeom>
        </p:spPr>
      </p:pic>
      <p:pic>
        <p:nvPicPr>
          <p:cNvPr id="5" name="Picture 4" descr="30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630340"/>
            <a:ext cx="10728960" cy="22062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010864"/>
            <a:ext cx="10728960" cy="231814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260">
                <a:solidFill>
                  <a:srgbClr val="64748B"/>
                </a:solidFill>
                <a:latin typeface="Inter"/>
              </a:rPr>
              <a:t>GPU cost per start $0.50 → $0.18. Medians: baseline n=3, now n=12.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51996"/>
            <a:ext cx="1235035" cy="186570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010">
                <a:solidFill>
                  <a:srgbClr val="94A3B8"/>
                </a:solidFill>
                <a:latin typeface="Inter"/>
              </a:rPr>
              <a:t>Fast Engine Startup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758" y="6451996"/>
            <a:ext cx="436721" cy="186570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010">
                <a:solidFill>
                  <a:srgbClr val="94A3B8"/>
                </a:solidFill>
                <a:latin typeface="Inter"/>
              </a:rPr>
              <a:t>31 / 34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33888"/>
            <a:ext cx="10728960" cy="203715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1110">
                <a:solidFill>
                  <a:srgbClr val="2563EB"/>
                </a:solidFill>
                <a:latin typeface="Inter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35831"/>
            <a:ext cx="10728960" cy="448627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3070">
                <a:solidFill>
                  <a:srgbClr val="0F172A"/>
                </a:solidFill>
                <a:latin typeface="Inter"/>
              </a:rPr>
              <a:t>Results: Qwen3-235B · 8×B200</a:t>
            </a:r>
          </a:p>
        </p:txBody>
      </p:sp>
      <p:pic>
        <p:nvPicPr>
          <p:cNvPr id="4" name="Picture 3" descr="31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1497"/>
            <a:ext cx="10728960" cy="3089910"/>
          </a:xfrm>
          <a:prstGeom prst="rect">
            <a:avLst/>
          </a:prstGeom>
        </p:spPr>
      </p:pic>
      <p:pic>
        <p:nvPicPr>
          <p:cNvPr id="5" name="Picture 4" descr="30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630340"/>
            <a:ext cx="10728960" cy="22062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010864"/>
            <a:ext cx="10728960" cy="231814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260">
                <a:solidFill>
                  <a:srgbClr val="64748B"/>
                </a:solidFill>
                <a:latin typeface="Inter"/>
              </a:rPr>
              <a:t>GPU cost per start $13.22 → $3.03. n=1 on each side.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51996"/>
            <a:ext cx="1235035" cy="186570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010">
                <a:solidFill>
                  <a:srgbClr val="94A3B8"/>
                </a:solidFill>
                <a:latin typeface="Inter"/>
              </a:rPr>
              <a:t>Fast Engine Startup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758" y="6451996"/>
            <a:ext cx="436721" cy="186570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010">
                <a:solidFill>
                  <a:srgbClr val="94A3B8"/>
                </a:solidFill>
                <a:latin typeface="Inter"/>
              </a:rPr>
              <a:t>32 / 34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33888"/>
            <a:ext cx="10728960" cy="203715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1110">
                <a:solidFill>
                  <a:srgbClr val="2563EB"/>
                </a:solidFill>
                <a:latin typeface="Inter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35831"/>
            <a:ext cx="10728960" cy="448627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3070">
                <a:solidFill>
                  <a:srgbClr val="0F172A"/>
                </a:solidFill>
                <a:latin typeface="Inter"/>
              </a:rPr>
              <a:t>Results: Qwen3-30B · 2 engines on 4×H100</a:t>
            </a:r>
          </a:p>
        </p:txBody>
      </p:sp>
      <p:pic>
        <p:nvPicPr>
          <p:cNvPr id="4" name="Picture 3" descr="32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1497"/>
            <a:ext cx="10728960" cy="3089910"/>
          </a:xfrm>
          <a:prstGeom prst="rect">
            <a:avLst/>
          </a:prstGeom>
        </p:spPr>
      </p:pic>
      <p:pic>
        <p:nvPicPr>
          <p:cNvPr id="5" name="Picture 4" descr="30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630340"/>
            <a:ext cx="10728960" cy="22062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010864"/>
            <a:ext cx="10728960" cy="231814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260">
                <a:solidFill>
                  <a:srgbClr val="64748B"/>
                </a:solidFill>
                <a:latin typeface="Inter"/>
              </a:rPr>
              <a:t>GPU cost per start $0.98 → $0.53. Baseline n=1, now n=2. Startup also includes ~35 s outside the phases: waiting for the second engine.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51996"/>
            <a:ext cx="1235035" cy="186570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010">
                <a:solidFill>
                  <a:srgbClr val="94A3B8"/>
                </a:solidFill>
                <a:latin typeface="Inter"/>
              </a:rPr>
              <a:t>Fast Engine Startup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758" y="6451996"/>
            <a:ext cx="436721" cy="186570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010">
                <a:solidFill>
                  <a:srgbClr val="94A3B8"/>
                </a:solidFill>
                <a:latin typeface="Inter"/>
              </a:rPr>
              <a:t>33 / 34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33888"/>
            <a:ext cx="10728960" cy="203715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1110">
                <a:solidFill>
                  <a:srgbClr val="2563EB"/>
                </a:solidFill>
                <a:latin typeface="Inter"/>
              </a:rPr>
              <a:t>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35831"/>
            <a:ext cx="10728960" cy="448627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1" sz="3070">
                <a:solidFill>
                  <a:srgbClr val="0F172A"/>
                </a:solidFill>
                <a:latin typeface="Inter"/>
              </a:rPr>
              <a:t>Future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6521"/>
            <a:ext cx="3420189" cy="3541156"/>
          </a:xfrm>
          <a:prstGeom prst="roundRect">
            <a:avLst>
              <a:gd name="adj" fmla="val 258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5564" bIns="175564" lIns="214579" rIns="214579"/>
          <a:lstStyle/>
          <a:p>
            <a:pPr algn="ctr"/>
            <a:r>
              <a:rPr b="1" sz="1200">
                <a:solidFill>
                  <a:srgbClr val="2563EB"/>
                </a:solidFill>
                <a:latin typeface="Inter"/>
              </a:rPr>
              <a:t>ENGINE</a:t>
            </a:r>
          </a:p>
          <a:p>
            <a:pPr algn="ctr"/>
            <a:r>
              <a:rPr b="0" sz="1540">
                <a:solidFill>
                  <a:srgbClr val="0F172A"/>
                </a:solidFill>
                <a:latin typeface="Inter"/>
              </a:rPr>
              <a:t> </a:t>
            </a:r>
          </a:p>
          <a:p>
            <a:pPr algn="ctr"/>
            <a:r>
              <a:rPr b="0" sz="1540">
                <a:solidFill>
                  <a:srgbClr val="334155"/>
                </a:solidFill>
                <a:latin typeface="Inter"/>
              </a:rPr>
              <a:t>Validate pow2 graphs on production traffic</a:t>
            </a:r>
            <a:r>
              <a:rPr b="0" sz="1540">
                <a:solidFill>
                  <a:srgbClr val="0F172A"/>
                </a:solidFill>
                <a:latin typeface="Inter"/>
              </a:rPr>
              <a:t> </a:t>
            </a:r>
          </a:p>
          <a:p>
            <a:pPr algn="ctr"/>
            <a:r>
              <a:rPr b="0" sz="1540">
                <a:solidFill>
                  <a:srgbClr val="334155"/>
                </a:solidFill>
                <a:latin typeface="Inter"/>
              </a:rPr>
              <a:t>Fork TP workers from a pre-imported process (forkserver)</a:t>
            </a:r>
            <a:r>
              <a:rPr b="0" sz="1540">
                <a:solidFill>
                  <a:srgbClr val="0F172A"/>
                </a:solidFill>
                <a:latin typeface="Inter"/>
              </a:rPr>
              <a:t> </a:t>
            </a:r>
          </a:p>
          <a:p>
            <a:pPr algn="ctr"/>
            <a:r>
              <a:rPr b="0" sz="1540">
                <a:solidFill>
                  <a:srgbClr val="334155"/>
                </a:solidFill>
                <a:latin typeface="Inter"/>
              </a:rPr>
              <a:t>Pre-sharded checkpoints per GPU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96521"/>
            <a:ext cx="30480" cy="354115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85786" y="1696521"/>
            <a:ext cx="3420308" cy="3541156"/>
          </a:xfrm>
          <a:prstGeom prst="roundRect">
            <a:avLst>
              <a:gd name="adj" fmla="val 258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5564" bIns="175564" lIns="214579" rIns="214579"/>
          <a:lstStyle/>
          <a:p>
            <a:pPr algn="ctr"/>
            <a:r>
              <a:rPr b="1" sz="1200">
                <a:solidFill>
                  <a:srgbClr val="059669"/>
                </a:solidFill>
                <a:latin typeface="Inter"/>
              </a:rPr>
              <a:t>SCHEDULER</a:t>
            </a:r>
          </a:p>
          <a:p>
            <a:pPr algn="ctr"/>
            <a:r>
              <a:rPr b="0" sz="1540">
                <a:solidFill>
                  <a:srgbClr val="0F172A"/>
                </a:solidFill>
                <a:latin typeface="Inter"/>
              </a:rPr>
              <a:t> </a:t>
            </a:r>
          </a:p>
          <a:p>
            <a:pPr algn="ctr"/>
            <a:r>
              <a:rPr b="0" sz="1540">
                <a:solidFill>
                  <a:srgbClr val="334155"/>
                </a:solidFill>
                <a:latin typeface="Inter"/>
              </a:rPr>
              <a:t>Warm volume pool</a:t>
            </a:r>
            <a:r>
              <a:rPr b="0" sz="1540">
                <a:solidFill>
                  <a:srgbClr val="0F172A"/>
                </a:solidFill>
                <a:latin typeface="Inter"/>
              </a:rPr>
              <a:t> </a:t>
            </a:r>
          </a:p>
          <a:p>
            <a:pPr algn="ctr"/>
            <a:r>
              <a:rPr b="0" sz="1540">
                <a:solidFill>
                  <a:srgbClr val="334155"/>
                </a:solidFill>
                <a:latin typeface="Inter"/>
              </a:rPr>
              <a:t>Quotas and rate limits</a:t>
            </a:r>
            <a:r>
              <a:rPr b="0" sz="1540">
                <a:solidFill>
                  <a:srgbClr val="0F172A"/>
                </a:solidFill>
                <a:latin typeface="Inter"/>
              </a:rPr>
              <a:t> </a:t>
            </a:r>
          </a:p>
          <a:p>
            <a:pPr algn="ctr"/>
            <a:r>
              <a:rPr b="0" sz="1540">
                <a:solidFill>
                  <a:srgbClr val="334155"/>
                </a:solidFill>
                <a:latin typeface="Inter"/>
              </a:rPr>
              <a:t>Multi-cloud GPU scheduling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5786" y="1696521"/>
            <a:ext cx="30480" cy="3541156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0171" y="1696521"/>
            <a:ext cx="3420189" cy="3541156"/>
          </a:xfrm>
          <a:prstGeom prst="roundRect">
            <a:avLst>
              <a:gd name="adj" fmla="val 258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5564" bIns="175564" lIns="214579" rIns="214579"/>
          <a:lstStyle/>
          <a:p>
            <a:pPr algn="ctr"/>
            <a:r>
              <a:rPr b="1" sz="1200">
                <a:solidFill>
                  <a:srgbClr val="D97706"/>
                </a:solidFill>
                <a:latin typeface="Inter"/>
              </a:rPr>
              <a:t>ENGINEERING</a:t>
            </a:r>
          </a:p>
          <a:p>
            <a:pPr algn="ctr"/>
            <a:r>
              <a:rPr b="0" sz="1540">
                <a:solidFill>
                  <a:srgbClr val="0F172A"/>
                </a:solidFill>
                <a:latin typeface="Inter"/>
              </a:rPr>
              <a:t> </a:t>
            </a:r>
          </a:p>
          <a:p>
            <a:pPr algn="ctr"/>
            <a:r>
              <a:rPr b="0" sz="1540">
                <a:solidFill>
                  <a:srgbClr val="334155"/>
                </a:solidFill>
                <a:latin typeface="Inter"/>
              </a:rPr>
              <a:t>CI/CD: build and deploy the images on every merge</a:t>
            </a:r>
            <a:r>
              <a:rPr b="0" sz="1540">
                <a:solidFill>
                  <a:srgbClr val="0F172A"/>
                </a:solidFill>
                <a:latin typeface="Inter"/>
              </a:rPr>
              <a:t> </a:t>
            </a:r>
          </a:p>
          <a:p>
            <a:pPr algn="ctr"/>
            <a:r>
              <a:rPr b="0" sz="1540">
                <a:solidFill>
                  <a:srgbClr val="334155"/>
                </a:solidFill>
                <a:latin typeface="Inter"/>
              </a:rPr>
              <a:t>Unit tests: plan, catalog, queue</a:t>
            </a:r>
            <a:r>
              <a:rPr b="0" sz="1540">
                <a:solidFill>
                  <a:srgbClr val="0F172A"/>
                </a:solidFill>
                <a:latin typeface="Inter"/>
              </a:rPr>
              <a:t> </a:t>
            </a:r>
          </a:p>
          <a:p>
            <a:pPr algn="ctr"/>
            <a:r>
              <a:rPr b="0" sz="1540">
                <a:solidFill>
                  <a:srgbClr val="334155"/>
                </a:solidFill>
                <a:latin typeface="Inter"/>
              </a:rPr>
              <a:t>E2E tests: a real start on the smallest GPU, nightly</a:t>
            </a:r>
            <a:r>
              <a:rPr b="0" sz="1540">
                <a:solidFill>
                  <a:srgbClr val="0F172A"/>
                </a:solidFill>
                <a:latin typeface="Inter"/>
              </a:rPr>
              <a:t> </a:t>
            </a:r>
          </a:p>
          <a:p>
            <a:pPr algn="ctr"/>
            <a:r>
              <a:rPr b="0" sz="1540">
                <a:solidFill>
                  <a:srgbClr val="334155"/>
                </a:solidFill>
                <a:latin typeface="Inter"/>
              </a:rPr>
              <a:t>Monitoring and alerting: startup time, failures, queue wait</a:t>
            </a:r>
            <a:r>
              <a:rPr b="0" sz="1540">
                <a:solidFill>
                  <a:srgbClr val="0F172A"/>
                </a:solidFill>
                <a:latin typeface="Inter"/>
              </a:rPr>
              <a:t> </a:t>
            </a:r>
          </a:p>
          <a:p>
            <a:pPr algn="ctr"/>
            <a:r>
              <a:rPr b="0" sz="1540">
                <a:solidFill>
                  <a:srgbClr val="334155"/>
                </a:solidFill>
                <a:latin typeface="Inter"/>
              </a:rPr>
              <a:t>API authentication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0171" y="1696521"/>
            <a:ext cx="30480" cy="354115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51996"/>
            <a:ext cx="1235035" cy="186570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010">
                <a:solidFill>
                  <a:srgbClr val="94A3B8"/>
                </a:solidFill>
                <a:latin typeface="Inter"/>
              </a:rPr>
              <a:t>Fast Engine Startup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23758" y="6451996"/>
            <a:ext cx="436721" cy="186570"/>
          </a:xfrm>
          <a:prstGeom prst="rect">
            <a:avLst/>
          </a:prstGeom>
          <a:noFill/>
        </p:spPr>
        <p:txBody>
          <a:bodyPr wrap="square" tIns="0" bIns="0" lIns="0" rIns="0" anchor="t"/>
          <a:lstStyle/>
          <a:p>
            <a:pPr algn="l"/>
            <a:r>
              <a:rPr b="0" sz="1010">
                <a:solidFill>
                  <a:srgbClr val="94A3B8"/>
                </a:solidFill>
                <a:latin typeface="Inter"/>
              </a:rPr>
              <a:t>34 / 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